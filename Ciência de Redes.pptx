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5"/>
    <p:sldMasterId id="2147483664" r:id="rId6"/>
    <p:sldMasterId id="214748366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4F0935-2E90-4214-B168-EA6355FC9C7A}">
  <a:tblStyle styleId="{E34F0935-2E90-4214-B168-EA6355FC9C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a67917c7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8a67917c7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8a67917c7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a67917c7_2_5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8a67917c7_2_5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8a67917c7_2_5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a67917c7_2_7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f8a67917c7_2_7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8a67917c7_2_7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a67917c7_2_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f8a67917c7_2_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8a67917c7_2_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8a67917c7_2_13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8a67917c7_2_13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8a67917c7_2_13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a67917c7_2_16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f8a67917c7_2_16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8a67917c7_2_16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a67917c7_2_1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f8a67917c7_2_1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8a67917c7_2_1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8a67917c7_2_20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f8a67917c7_2_20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8a67917c7_2_20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8a67917c7_2_22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f8a67917c7_2_22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8a67917c7_2_22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8a67917c7_2_24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f8a67917c7_2_24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8a67917c7_2_24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8a67917c7_2_2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f8a67917c7_2_2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8a67917c7_2_25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8a67917c7_2_2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f8a67917c7_2_2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f8a67917c7_2_2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8a67917c7_2_29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f8a67917c7_2_29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8a67917c7_2_29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8a67917c7_2_3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f8a67917c7_2_3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f8a67917c7_2_3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8a67917c7_2_33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f8a67917c7_2_33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8a67917c7_2_33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8a67917c7_2_36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f8a67917c7_2_36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f8a67917c7_2_36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41421e4c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f41421e4c6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41421e4c6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f41421e4c6_3_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41421e4c6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f41421e4c6_3_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41421e4c6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41421e4c6_3_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41421e4c6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f41421e4c6_3_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41421e4c6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f41421e4c6_3_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41421e4c6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41421e4c6_3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41421e4c6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f41421e4c6_3_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41421e4c6_3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41421e4c6_3_10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4159906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4159906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41599062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f41599062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415990627_0_8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3f415990627_0_8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f415990627_0_8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f415990627_0_5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3f415990627_0_5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f415990627_0_5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41599062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f41599062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415990627_0_21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f415990627_0_21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f415990627_0_21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f415990627_0_18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3f415990627_0_18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f415990627_0_18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8a67917c7_2_3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3f8a67917c7_2_3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f8a67917c7_2_3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/>
          <p:nvPr/>
        </p:nvSpPr>
        <p:spPr>
          <a:xfrm>
            <a:off x="0" y="4924044"/>
            <a:ext cx="9143700" cy="13800"/>
          </a:xfrm>
          <a:prstGeom prst="rect">
            <a:avLst/>
          </a:prstGeom>
          <a:solidFill>
            <a:srgbClr val="D8E2E1"/>
          </a:solidFill>
          <a:ln cap="flat" cmpd="sng" w="952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5"/>
          <p:cNvSpPr/>
          <p:nvPr/>
        </p:nvSpPr>
        <p:spPr>
          <a:xfrm>
            <a:off x="377190" y="4965192"/>
            <a:ext cx="3429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174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rPr>
              <a:t>UNIFEI-IMC · XMCO09 – Ciência de Redes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627364" y="495833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/>
          <p:nvPr/>
        </p:nvSpPr>
        <p:spPr>
          <a:xfrm>
            <a:off x="0" y="4924044"/>
            <a:ext cx="9143700" cy="13800"/>
          </a:xfrm>
          <a:prstGeom prst="rect">
            <a:avLst/>
          </a:prstGeom>
          <a:solidFill>
            <a:srgbClr val="D8E2E1"/>
          </a:solidFill>
          <a:ln cap="flat" cmpd="sng" w="952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8"/>
          <p:cNvSpPr/>
          <p:nvPr/>
        </p:nvSpPr>
        <p:spPr>
          <a:xfrm>
            <a:off x="377190" y="4965192"/>
            <a:ext cx="3429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174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rPr>
              <a:t>UNIFEI-IMC · XMCO09 – Ciência de Redes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8"/>
          <p:cNvSpPr txBox="1"/>
          <p:nvPr>
            <p:ph idx="12" type="sldNum"/>
          </p:nvPr>
        </p:nvSpPr>
        <p:spPr>
          <a:xfrm>
            <a:off x="8627364" y="495833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27364" y="495833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464B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" name="Google Shape;69;p19"/>
          <p:cNvCxnSpPr/>
          <p:nvPr/>
        </p:nvCxnSpPr>
        <p:spPr>
          <a:xfrm flipH="1" rot="10800000">
            <a:off x="6192774" y="1059561"/>
            <a:ext cx="589788" cy="1728216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9"/>
          <p:cNvCxnSpPr/>
          <p:nvPr/>
        </p:nvCxnSpPr>
        <p:spPr>
          <a:xfrm flipH="1" rot="10800000">
            <a:off x="6782562" y="843534"/>
            <a:ext cx="884682" cy="216027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9"/>
          <p:cNvCxnSpPr/>
          <p:nvPr/>
        </p:nvCxnSpPr>
        <p:spPr>
          <a:xfrm flipH="1" rot="10800000">
            <a:off x="6192774" y="1923669"/>
            <a:ext cx="2211705" cy="864108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9"/>
          <p:cNvCxnSpPr/>
          <p:nvPr/>
        </p:nvCxnSpPr>
        <p:spPr>
          <a:xfrm flipH="1">
            <a:off x="7224903" y="1923669"/>
            <a:ext cx="1179576" cy="432054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9"/>
          <p:cNvCxnSpPr/>
          <p:nvPr/>
        </p:nvCxnSpPr>
        <p:spPr>
          <a:xfrm>
            <a:off x="6782562" y="1059561"/>
            <a:ext cx="442341" cy="1296162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9"/>
          <p:cNvCxnSpPr/>
          <p:nvPr/>
        </p:nvCxnSpPr>
        <p:spPr>
          <a:xfrm flipH="1">
            <a:off x="6487668" y="2355723"/>
            <a:ext cx="737235" cy="1728216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9"/>
          <p:cNvCxnSpPr/>
          <p:nvPr/>
        </p:nvCxnSpPr>
        <p:spPr>
          <a:xfrm>
            <a:off x="7224903" y="2355723"/>
            <a:ext cx="501320" cy="1296162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9"/>
          <p:cNvCxnSpPr/>
          <p:nvPr/>
        </p:nvCxnSpPr>
        <p:spPr>
          <a:xfrm flipH="1" rot="10800000">
            <a:off x="7726223" y="3003804"/>
            <a:ext cx="825704" cy="648081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9"/>
          <p:cNvCxnSpPr/>
          <p:nvPr/>
        </p:nvCxnSpPr>
        <p:spPr>
          <a:xfrm flipH="1">
            <a:off x="7224903" y="843534"/>
            <a:ext cx="442341" cy="1512189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9"/>
          <p:cNvSpPr/>
          <p:nvPr/>
        </p:nvSpPr>
        <p:spPr>
          <a:xfrm>
            <a:off x="6137910" y="2732913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9"/>
          <p:cNvSpPr/>
          <p:nvPr/>
        </p:nvSpPr>
        <p:spPr>
          <a:xfrm>
            <a:off x="6748272" y="1025271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9"/>
          <p:cNvSpPr/>
          <p:nvPr/>
        </p:nvSpPr>
        <p:spPr>
          <a:xfrm>
            <a:off x="7632954" y="809244"/>
            <a:ext cx="68580" cy="6858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9"/>
          <p:cNvSpPr/>
          <p:nvPr/>
        </p:nvSpPr>
        <p:spPr>
          <a:xfrm>
            <a:off x="8349615" y="1868805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9"/>
          <p:cNvSpPr/>
          <p:nvPr/>
        </p:nvSpPr>
        <p:spPr>
          <a:xfrm>
            <a:off x="7190613" y="2321433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/>
          <p:nvPr/>
        </p:nvSpPr>
        <p:spPr>
          <a:xfrm>
            <a:off x="6453378" y="4049649"/>
            <a:ext cx="68580" cy="6858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"/>
          <p:cNvSpPr/>
          <p:nvPr/>
        </p:nvSpPr>
        <p:spPr>
          <a:xfrm>
            <a:off x="7671359" y="3597021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9"/>
          <p:cNvSpPr/>
          <p:nvPr/>
        </p:nvSpPr>
        <p:spPr>
          <a:xfrm>
            <a:off x="8517636" y="2969514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9"/>
          <p:cNvSpPr txBox="1"/>
          <p:nvPr/>
        </p:nvSpPr>
        <p:spPr>
          <a:xfrm>
            <a:off x="480060" y="617220"/>
            <a:ext cx="58293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5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BFD6D5"/>
                </a:solidFill>
                <a:latin typeface="Calibri"/>
                <a:ea typeface="Calibri"/>
                <a:cs typeface="Calibri"/>
                <a:sym typeface="Calibri"/>
              </a:rPr>
              <a:t>UNIVERSIDADE FEDERAL DE ITAJUBÁ  ·  INSTITUTO DE MATEMÁTICA E COMPUTAÇÃO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80060" y="92583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XMCO09 – Ciência de Redes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445770" y="1508760"/>
            <a:ext cx="5897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pt-BR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Análise da Rede de Colaboração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pt-BR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Científica dos Institutos da UNIFEI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9"/>
          <p:cNvCxnSpPr/>
          <p:nvPr/>
        </p:nvCxnSpPr>
        <p:spPr>
          <a:xfrm>
            <a:off x="480060" y="3463290"/>
            <a:ext cx="4251960" cy="0"/>
          </a:xfrm>
          <a:prstGeom prst="straightConnector1">
            <a:avLst/>
          </a:prstGeom>
          <a:noFill/>
          <a:ln cap="flat" cmpd="sng" w="12700">
            <a:solidFill>
              <a:srgbClr val="2E6C7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9"/>
          <p:cNvSpPr txBox="1"/>
          <p:nvPr/>
        </p:nvSpPr>
        <p:spPr>
          <a:xfrm>
            <a:off x="480060" y="3600450"/>
            <a:ext cx="3429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Danilo Alexandre Pereira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Lara Bruna Alves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Paulo Victor Olympio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Vinícius de Sousa Viana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480060" y="469773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0BF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FC0BF"/>
                </a:solidFill>
                <a:latin typeface="Calibri"/>
                <a:ea typeface="Calibri"/>
                <a:cs typeface="Calibri"/>
                <a:sym typeface="Calibri"/>
              </a:rPr>
              <a:t>Prof. Rafael Frinhani  ·  2026 / 2º semestre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464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20"/>
          <p:cNvCxnSpPr/>
          <p:nvPr/>
        </p:nvCxnSpPr>
        <p:spPr>
          <a:xfrm flipH="1" rot="10800000">
            <a:off x="6494526" y="987552"/>
            <a:ext cx="1042416" cy="452628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20"/>
          <p:cNvCxnSpPr/>
          <p:nvPr/>
        </p:nvCxnSpPr>
        <p:spPr>
          <a:xfrm>
            <a:off x="7536942" y="987552"/>
            <a:ext cx="781812" cy="75438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20"/>
          <p:cNvCxnSpPr/>
          <p:nvPr/>
        </p:nvCxnSpPr>
        <p:spPr>
          <a:xfrm>
            <a:off x="6494526" y="1440180"/>
            <a:ext cx="521208" cy="942975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0"/>
          <p:cNvCxnSpPr/>
          <p:nvPr/>
        </p:nvCxnSpPr>
        <p:spPr>
          <a:xfrm>
            <a:off x="7015734" y="2383155"/>
            <a:ext cx="859993" cy="37719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0"/>
          <p:cNvCxnSpPr/>
          <p:nvPr/>
        </p:nvCxnSpPr>
        <p:spPr>
          <a:xfrm>
            <a:off x="7536942" y="987552"/>
            <a:ext cx="338785" cy="1772793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0"/>
          <p:cNvCxnSpPr/>
          <p:nvPr/>
        </p:nvCxnSpPr>
        <p:spPr>
          <a:xfrm flipH="1">
            <a:off x="6416345" y="2760345"/>
            <a:ext cx="1459382" cy="641223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20"/>
          <p:cNvCxnSpPr/>
          <p:nvPr/>
        </p:nvCxnSpPr>
        <p:spPr>
          <a:xfrm flipH="1">
            <a:off x="7406640" y="2760345"/>
            <a:ext cx="469088" cy="113157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20"/>
          <p:cNvCxnSpPr/>
          <p:nvPr/>
        </p:nvCxnSpPr>
        <p:spPr>
          <a:xfrm flipH="1" rot="10800000">
            <a:off x="7406640" y="3703320"/>
            <a:ext cx="1042416" cy="188595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20"/>
          <p:cNvCxnSpPr/>
          <p:nvPr/>
        </p:nvCxnSpPr>
        <p:spPr>
          <a:xfrm flipH="1">
            <a:off x="7875728" y="1741932"/>
            <a:ext cx="443026" cy="1018413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20"/>
          <p:cNvSpPr/>
          <p:nvPr/>
        </p:nvSpPr>
        <p:spPr>
          <a:xfrm>
            <a:off x="6439662" y="1385316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>
            <a:off x="7502652" y="953262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8284464" y="1707642"/>
            <a:ext cx="68580" cy="6858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6960870" y="2328291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7841438" y="2726055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6382055" y="3367278"/>
            <a:ext cx="68580" cy="6858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7351776" y="3837051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8414766" y="3669030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480060" y="2194560"/>
            <a:ext cx="5623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pt-BR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Introdução 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pt-BR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Referencial Teórico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480060" y="318897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5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BFD6D5"/>
                </a:solidFill>
                <a:latin typeface="Calibri"/>
                <a:ea typeface="Calibri"/>
                <a:cs typeface="Calibri"/>
                <a:sym typeface="Calibri"/>
              </a:rPr>
              <a:t>Contexto, problema, objetivos e base conceitual da Ciência de Redes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5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BFD6D5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INTRODUÇÃO  ·  1 / 1.1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Contexto e problema de pesquisa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411480" y="1303020"/>
            <a:ext cx="45262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Colaboração científica: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um dos principais mecanismos de produção e disseminação do conhecimento acadêmico.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Rede de coautoria: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pesquisadores = nós; publicações conjuntas = arestas.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Escopo temporal: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publicações de 01/01/2020 a 19/08/2026.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Problema de pesquisa: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como as colaborações de coautoria se estruturam entre os institutos da UNIFEI, com atenção específica à posição do IMC nesse conjunto mais amplo.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5212080" y="1337310"/>
            <a:ext cx="3497580" cy="3154680"/>
          </a:xfrm>
          <a:prstGeom prst="roundRect">
            <a:avLst>
              <a:gd fmla="val 1739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7" name="Google Shape;127;p21"/>
          <p:cNvSpPr txBox="1"/>
          <p:nvPr/>
        </p:nvSpPr>
        <p:spPr>
          <a:xfrm>
            <a:off x="5452110" y="1543050"/>
            <a:ext cx="30175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mbria"/>
              <a:buNone/>
            </a:pPr>
            <a:r>
              <a:rPr b="1" i="0" lang="pt-BR" sz="12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Por que não só o IMC?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5452110" y="198882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 investigação preliminar mostrou que parte relevante das colaborações dos pesquisadores do IMC ocorre com colegas de outros institutos da própria UNIFEI — uma análise restrita ao IMC seria incompleta.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21"/>
          <p:cNvCxnSpPr/>
          <p:nvPr/>
        </p:nvCxnSpPr>
        <p:spPr>
          <a:xfrm>
            <a:off x="5452110" y="3223260"/>
            <a:ext cx="3017520" cy="0"/>
          </a:xfrm>
          <a:prstGeom prst="straightConnector1">
            <a:avLst/>
          </a:prstGeom>
          <a:noFill/>
          <a:ln cap="flat" cmpd="sng" w="12700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21"/>
          <p:cNvSpPr txBox="1"/>
          <p:nvPr/>
        </p:nvSpPr>
        <p:spPr>
          <a:xfrm>
            <a:off x="5452110" y="3360420"/>
            <a:ext cx="30175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Escopo ampliado: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5452110" y="3600450"/>
            <a:ext cx="30175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8 institutos da UNIFEI (IEM, IEPG, IESTI, IFQ, IMC, IRN, ISEE, IEI) — IMC mantido como referência para comparação.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INTRODUÇÃO  ·  1.3 / 1.4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Questões de pesquisa e hipóteses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411480" y="1371600"/>
            <a:ext cx="401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300"/>
              <a:buFont typeface="Cambria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Questões de pesquisa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411480" y="1714500"/>
            <a:ext cx="342900" cy="274320"/>
          </a:xfrm>
          <a:prstGeom prst="roundRect">
            <a:avLst>
              <a:gd fmla="val 12500" name="adj"/>
            </a:avLst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411480" y="1714500"/>
            <a:ext cx="342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857250" y="1693926"/>
            <a:ext cx="35661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Como a rede de colaboração está estruturada, e como se compara entre institutos (destaque IMC)?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11480" y="2139696"/>
            <a:ext cx="342900" cy="274320"/>
          </a:xfrm>
          <a:prstGeom prst="roundRect">
            <a:avLst>
              <a:gd fmla="val 12500" name="adj"/>
            </a:avLst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411480" y="2139696"/>
            <a:ext cx="342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857250" y="2119122"/>
            <a:ext cx="3566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Quais pesquisadores ocupam posições estruturais de maior relevância?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411480" y="2564892"/>
            <a:ext cx="342900" cy="274320"/>
          </a:xfrm>
          <a:prstGeom prst="roundRect">
            <a:avLst>
              <a:gd fmla="val 12500" name="adj"/>
            </a:avLst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411480" y="2564892"/>
            <a:ext cx="342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857250" y="2544318"/>
            <a:ext cx="35661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Existem grupos com maior intensidade de colaboração interna?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411480" y="2990088"/>
            <a:ext cx="342900" cy="274320"/>
          </a:xfrm>
          <a:prstGeom prst="roundRect">
            <a:avLst>
              <a:gd fmla="val 12500" name="adj"/>
            </a:avLst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411480" y="2990088"/>
            <a:ext cx="342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857250" y="2969514"/>
            <a:ext cx="35661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Quais áreas de pesquisa estão associadas aos grupos identificados?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411480" y="3415284"/>
            <a:ext cx="342900" cy="274320"/>
          </a:xfrm>
          <a:prstGeom prst="roundRect">
            <a:avLst>
              <a:gd fmla="val 12500" name="adj"/>
            </a:avLst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411480" y="3415284"/>
            <a:ext cx="342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857250" y="3394710"/>
            <a:ext cx="35661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Existem pesquisadores que atuam como pontes entre grupos?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4766310" y="1371600"/>
            <a:ext cx="40119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1300"/>
              <a:buFont typeface="Cambria"/>
              <a:buNone/>
            </a:pPr>
            <a:r>
              <a:rPr b="1" i="0" lang="pt-BR" u="none" cap="none" strike="noStrike">
                <a:solidFill>
                  <a:srgbClr val="911EB4"/>
                </a:solidFill>
                <a:latin typeface="Cambria"/>
                <a:ea typeface="Cambria"/>
                <a:cs typeface="Cambria"/>
                <a:sym typeface="Cambria"/>
              </a:rPr>
              <a:t>Hipóteses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4766310" y="1714500"/>
            <a:ext cx="342900" cy="274320"/>
          </a:xfrm>
          <a:prstGeom prst="roundRect">
            <a:avLst>
              <a:gd fmla="val 12500" name="adj"/>
            </a:avLst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4766310" y="1714500"/>
            <a:ext cx="342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5212080" y="1693926"/>
            <a:ext cx="35661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 rede apresenta estrutura não homogênea, com níveis de conectividade distintos.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4766310" y="2233239"/>
            <a:ext cx="342900" cy="274320"/>
          </a:xfrm>
          <a:prstGeom prst="roundRect">
            <a:avLst>
              <a:gd fmla="val 12500" name="adj"/>
            </a:avLst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4766310" y="2233239"/>
            <a:ext cx="342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5212080" y="2212665"/>
            <a:ext cx="35661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Existem grupos de pesquisadores com maior densidade de colaboração interna.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4766310" y="2751978"/>
            <a:ext cx="342900" cy="274320"/>
          </a:xfrm>
          <a:prstGeom prst="roundRect">
            <a:avLst>
              <a:gd fmla="val 12500" name="adj"/>
            </a:avLst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4766310" y="2751978"/>
            <a:ext cx="342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5212080" y="2731404"/>
            <a:ext cx="35661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Alguns pesquisadores conectam diferentes grupos de colaboração.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4766310" y="3270717"/>
            <a:ext cx="342900" cy="274320"/>
          </a:xfrm>
          <a:prstGeom prst="roundRect">
            <a:avLst>
              <a:gd fmla="val 12500" name="adj"/>
            </a:avLst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4766310" y="3270717"/>
            <a:ext cx="342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5212080" y="3250143"/>
            <a:ext cx="35661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Os grupos estruturais se relacionam com áreas de pesquisa predominantes.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22"/>
          <p:cNvCxnSpPr/>
          <p:nvPr/>
        </p:nvCxnSpPr>
        <p:spPr>
          <a:xfrm>
            <a:off x="4594860" y="1371600"/>
            <a:ext cx="0" cy="3154680"/>
          </a:xfrm>
          <a:prstGeom prst="straightConnector1">
            <a:avLst/>
          </a:prstGeom>
          <a:noFill/>
          <a:ln cap="flat" cmpd="sng" w="12700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22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INTRODUÇÃO  ·  1.5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Objetivos do trabalho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411480" y="1337310"/>
            <a:ext cx="8298180" cy="720090"/>
          </a:xfrm>
          <a:prstGeom prst="roundRect">
            <a:avLst>
              <a:gd fmla="val 7619" name="adj"/>
            </a:avLst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651510" y="1426464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0BF"/>
              </a:buClr>
              <a:buSzPts val="800"/>
              <a:buFont typeface="Calibri"/>
              <a:buNone/>
            </a:pPr>
            <a:r>
              <a:rPr b="1" i="0" lang="pt-BR" sz="1200" u="none" cap="none" strike="noStrike">
                <a:solidFill>
                  <a:srgbClr val="9FC0BF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651510" y="1611630"/>
            <a:ext cx="7818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Analisar a estrutura da colaboração científica entre pesquisadores da UNIFEI (8 institutos), com destaque comparativo para o IMC, a partir de uma rede de coautoria (2020–ago/2026).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411480" y="2318004"/>
            <a:ext cx="233172" cy="233172"/>
          </a:xfrm>
          <a:prstGeom prst="ellipse">
            <a:avLst/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411480" y="231800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754380" y="2263140"/>
            <a:ext cx="36347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2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Construir a rede de coautoria dos 8 institutos da UNIFEI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4697730" y="2318004"/>
            <a:ext cx="233172" cy="233172"/>
          </a:xfrm>
          <a:prstGeom prst="ellipse">
            <a:avLst/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4697730" y="231800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5040630" y="2263140"/>
            <a:ext cx="36347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2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Caracterizar a estrutura por meio de métricas de Ciência de Redes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411480" y="3175254"/>
            <a:ext cx="233172" cy="233172"/>
          </a:xfrm>
          <a:prstGeom prst="ellipse">
            <a:avLst/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411480" y="317525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754380" y="3120390"/>
            <a:ext cx="36347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2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Comparar propriedades estruturais entre institutos, situando o IMC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4697730" y="3175254"/>
            <a:ext cx="233172" cy="233172"/>
          </a:xfrm>
          <a:prstGeom prst="ellipse">
            <a:avLst/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4697730" y="317525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5040630" y="3120390"/>
            <a:ext cx="36347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2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Identificar pesquisadores com posições estruturais relevantes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411480" y="4032504"/>
            <a:ext cx="233172" cy="233172"/>
          </a:xfrm>
          <a:prstGeom prst="ellipse">
            <a:avLst/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411480" y="403250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754380" y="3977640"/>
            <a:ext cx="36347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2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Identificar componentes conexos e comunidades de colaboração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4697730" y="4032504"/>
            <a:ext cx="233172" cy="233172"/>
          </a:xfrm>
          <a:prstGeom prst="ellipse">
            <a:avLst/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4697730" y="403250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5040630" y="3977640"/>
            <a:ext cx="36347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2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Avaliar a qualidade e as limitações dos dados utilizados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REFERENCIAL TEÓRICO  ·  2.1 / 2.2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Redes de colaboração e de coautoria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411480" y="1303020"/>
            <a:ext cx="4800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Newman (2001, 2004):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referências fundamentais na aplicação de redes para estudar colaboração científica.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Rede de coautoria: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pesquisadores = nós; publicação conjunta = aresta entre autores.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Peso da aresta: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pode representar a intensidade da colaboração — nº de trabalhos publicados em conjunto.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Valor agregado: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vai além de indicadores tradicionais (nº de publicações, citações) — revela a posição estrutural do pesquisador.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5589270" y="1371600"/>
            <a:ext cx="3120390" cy="3086100"/>
          </a:xfrm>
          <a:prstGeom prst="roundRect">
            <a:avLst>
              <a:gd fmla="val 1778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5760720" y="1440180"/>
            <a:ext cx="6858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4500"/>
              <a:buFont typeface="Cambria"/>
              <a:buNone/>
            </a:pPr>
            <a:r>
              <a:rPr b="1" i="0" lang="pt-BR" sz="4500" u="none" cap="none" strike="noStrike">
                <a:solidFill>
                  <a:srgbClr val="911EB4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5863590" y="2057400"/>
            <a:ext cx="25717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mbria"/>
              <a:buNone/>
            </a:pPr>
            <a:r>
              <a:rPr b="0" i="1" lang="pt-BR" sz="12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Dois pesquisadores podem apresentar produção científica semelhante, mas ocupar posições muito diferentes dentro da estrutura de colaboração.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24"/>
          <p:cNvCxnSpPr/>
          <p:nvPr/>
        </p:nvCxnSpPr>
        <p:spPr>
          <a:xfrm>
            <a:off x="5863590" y="3531870"/>
            <a:ext cx="2571750" cy="0"/>
          </a:xfrm>
          <a:prstGeom prst="straightConnector1">
            <a:avLst/>
          </a:prstGeom>
          <a:noFill/>
          <a:ln cap="flat" cmpd="sng" w="12700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4"/>
          <p:cNvSpPr txBox="1"/>
          <p:nvPr/>
        </p:nvSpPr>
        <p:spPr>
          <a:xfrm>
            <a:off x="5863590" y="3669030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Base conceitual adotada neste trabalho, situando a Ciência de Redes como perspectiva complementar aos indicadores bibliométricos tradicionais.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REFERENCIAL TEÓRICO  ·  2.3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Métricas de Ciência de Redes utilizadas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411480" y="1405890"/>
            <a:ext cx="2674620" cy="1405890"/>
          </a:xfrm>
          <a:prstGeom prst="roundRect">
            <a:avLst>
              <a:gd fmla="val 390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617220" y="1597914"/>
            <a:ext cx="274320" cy="274320"/>
          </a:xfrm>
          <a:prstGeom prst="ellipse">
            <a:avLst/>
          </a:prstGeom>
          <a:solidFill>
            <a:srgbClr val="E61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617220" y="1954530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mbr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Grau (k)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617220" y="2297430"/>
            <a:ext cx="22631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Número de conexões (colaboradores) de um pesquisador.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3223260" y="1405890"/>
            <a:ext cx="2674620" cy="1405890"/>
          </a:xfrm>
          <a:prstGeom prst="roundRect">
            <a:avLst>
              <a:gd fmla="val 390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3429000" y="1597914"/>
            <a:ext cx="274320" cy="274320"/>
          </a:xfrm>
          <a:prstGeom prst="ellipse">
            <a:avLst/>
          </a:prstGeom>
          <a:solidFill>
            <a:srgbClr val="3CB4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3429000" y="1954530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mbr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Componentes conexos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3429000" y="2297430"/>
            <a:ext cx="22631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Subconjuntos de nós interligados por caminhos de coautoria.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6035040" y="1405890"/>
            <a:ext cx="2674620" cy="1405890"/>
          </a:xfrm>
          <a:prstGeom prst="roundRect">
            <a:avLst>
              <a:gd fmla="val 390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6240780" y="1597914"/>
            <a:ext cx="274320" cy="274320"/>
          </a:xfrm>
          <a:prstGeom prst="ellipse">
            <a:avLst/>
          </a:prstGeom>
          <a:solidFill>
            <a:srgbClr val="4363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6240780" y="1954530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mbria"/>
              <a:buNone/>
            </a:pPr>
            <a:r>
              <a:rPr b="1" i="0" lang="pt-BR" sz="11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Pontos de articulação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6240780" y="2297430"/>
            <a:ext cx="22631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Nós cuja remoção pode fragmentar regiões da rede.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411480" y="2983230"/>
            <a:ext cx="2674620" cy="1405890"/>
          </a:xfrm>
          <a:prstGeom prst="roundRect">
            <a:avLst>
              <a:gd fmla="val 390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617220" y="3175254"/>
            <a:ext cx="274320" cy="274320"/>
          </a:xfrm>
          <a:prstGeom prst="ellipse">
            <a:avLst/>
          </a:prstGeom>
          <a:solidFill>
            <a:srgbClr val="F5823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617220" y="3497582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mbr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Coef. de agrupamento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617220" y="3874770"/>
            <a:ext cx="22631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Tendência de colaboradores de um mesmo nó também colaborarem entre si (Watts &amp; Strogatz, 1998).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3223260" y="2983230"/>
            <a:ext cx="2674620" cy="1405890"/>
          </a:xfrm>
          <a:prstGeom prst="roundRect">
            <a:avLst>
              <a:gd fmla="val 390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3429000" y="3175254"/>
            <a:ext cx="274320" cy="274320"/>
          </a:xfrm>
          <a:prstGeom prst="ellipse">
            <a:avLst/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3429000" y="3449532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mbr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Distância média / diâmetro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3429000" y="3874770"/>
            <a:ext cx="22631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Nº típico e máximo de “saltos” de coautoria entre dois pesquisadores.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6035040" y="2983230"/>
            <a:ext cx="2674620" cy="1405890"/>
          </a:xfrm>
          <a:prstGeom prst="roundRect">
            <a:avLst>
              <a:gd fmla="val 390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6240780" y="3175254"/>
            <a:ext cx="274320" cy="274320"/>
          </a:xfrm>
          <a:prstGeom prst="ellipse">
            <a:avLst/>
          </a:prstGeom>
          <a:solidFill>
            <a:srgbClr val="42D4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6240780" y="3449570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mbr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Comunidades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6240780" y="3874770"/>
            <a:ext cx="22631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Grupos com maior densidade de conexões internas do que externas (Fortunato, 2010).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REFERENCIAL TEÓRICO  ·  2.4 – 2.6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Trabalhos relacionados e a oportunidade de pesquisa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411480" y="1303020"/>
            <a:ext cx="46634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Newman (2001, 2004):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referências fundamentais em redes de colaboração científica.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Estudos posteriores: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ampliaram a abordagem com centralidade, agrupamento e detecção de comunidades (Newman, 2010; Fortunato, 2010).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Lacuna identificada: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poucos estudos combinam a estrutura de coautoria com as áreas de pesquisa em nível de um instituto específico.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5383530" y="1337310"/>
            <a:ext cx="3326130" cy="1988820"/>
          </a:xfrm>
          <a:prstGeom prst="roundRect">
            <a:avLst>
              <a:gd fmla="val 2759" name="adj"/>
            </a:avLst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5623560" y="1474470"/>
            <a:ext cx="28460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0B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FC0BF"/>
                </a:solidFill>
                <a:latin typeface="Calibri"/>
                <a:ea typeface="Calibri"/>
                <a:cs typeface="Calibri"/>
                <a:sym typeface="Calibri"/>
              </a:rPr>
              <a:t>Oportunidade explorada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5623560" y="1748790"/>
            <a:ext cx="2846070" cy="126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Combinar a análise estrutural da rede de coautoria com informações temáticas dos pesquisadores, compreendendo a relação entre estrutura de colaboração e organização das áreas de pesquisa do IMC dentro do conjunto da UNIFEI.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5383530" y="3326130"/>
            <a:ext cx="332613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1000"/>
              <a:buFont typeface="Calibri"/>
              <a:buNone/>
            </a:pPr>
            <a:r>
              <a:rPr b="0" i="1" lang="pt-BR" sz="10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Isso motivou a ampliação do escopo de coleta de “apenas IMC” para “toda a UNIFEI” — detalhada a seguir, na Metodologia (AT2).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464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27"/>
          <p:cNvCxnSpPr/>
          <p:nvPr/>
        </p:nvCxnSpPr>
        <p:spPr>
          <a:xfrm flipH="1" rot="10800000">
            <a:off x="6364224" y="1251585"/>
            <a:ext cx="521208" cy="150876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27"/>
          <p:cNvCxnSpPr/>
          <p:nvPr/>
        </p:nvCxnSpPr>
        <p:spPr>
          <a:xfrm flipH="1" rot="10800000">
            <a:off x="6885432" y="1062990"/>
            <a:ext cx="781812" cy="188595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7"/>
          <p:cNvCxnSpPr/>
          <p:nvPr/>
        </p:nvCxnSpPr>
        <p:spPr>
          <a:xfrm flipH="1" rot="10800000">
            <a:off x="6364224" y="2005965"/>
            <a:ext cx="1954530" cy="75438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27"/>
          <p:cNvCxnSpPr/>
          <p:nvPr/>
        </p:nvCxnSpPr>
        <p:spPr>
          <a:xfrm flipH="1">
            <a:off x="7276338" y="2005965"/>
            <a:ext cx="1042416" cy="37719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27"/>
          <p:cNvCxnSpPr/>
          <p:nvPr/>
        </p:nvCxnSpPr>
        <p:spPr>
          <a:xfrm>
            <a:off x="6885432" y="1251585"/>
            <a:ext cx="390906" cy="113157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27"/>
          <p:cNvCxnSpPr/>
          <p:nvPr/>
        </p:nvCxnSpPr>
        <p:spPr>
          <a:xfrm flipH="1">
            <a:off x="6624828" y="2383155"/>
            <a:ext cx="651510" cy="150876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27"/>
          <p:cNvCxnSpPr/>
          <p:nvPr/>
        </p:nvCxnSpPr>
        <p:spPr>
          <a:xfrm>
            <a:off x="7276338" y="2383155"/>
            <a:ext cx="443026" cy="113157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27"/>
          <p:cNvCxnSpPr/>
          <p:nvPr/>
        </p:nvCxnSpPr>
        <p:spPr>
          <a:xfrm flipH="1" rot="10800000">
            <a:off x="7719365" y="2948940"/>
            <a:ext cx="729691" cy="565785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27"/>
          <p:cNvCxnSpPr/>
          <p:nvPr/>
        </p:nvCxnSpPr>
        <p:spPr>
          <a:xfrm flipH="1">
            <a:off x="7276338" y="1062990"/>
            <a:ext cx="390906" cy="1320165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27"/>
          <p:cNvSpPr/>
          <p:nvPr/>
        </p:nvSpPr>
        <p:spPr>
          <a:xfrm>
            <a:off x="6309360" y="2705481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7"/>
          <p:cNvSpPr/>
          <p:nvPr/>
        </p:nvSpPr>
        <p:spPr>
          <a:xfrm>
            <a:off x="6851142" y="1217295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7"/>
          <p:cNvSpPr/>
          <p:nvPr/>
        </p:nvSpPr>
        <p:spPr>
          <a:xfrm>
            <a:off x="7632954" y="1028700"/>
            <a:ext cx="68580" cy="6858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"/>
          <p:cNvSpPr/>
          <p:nvPr/>
        </p:nvSpPr>
        <p:spPr>
          <a:xfrm>
            <a:off x="8263890" y="1951101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7"/>
          <p:cNvSpPr/>
          <p:nvPr/>
        </p:nvSpPr>
        <p:spPr>
          <a:xfrm>
            <a:off x="7242048" y="2348865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7"/>
          <p:cNvSpPr/>
          <p:nvPr/>
        </p:nvSpPr>
        <p:spPr>
          <a:xfrm>
            <a:off x="6590538" y="3857625"/>
            <a:ext cx="68580" cy="6858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7"/>
          <p:cNvSpPr/>
          <p:nvPr/>
        </p:nvSpPr>
        <p:spPr>
          <a:xfrm>
            <a:off x="7664501" y="3459861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7"/>
          <p:cNvSpPr/>
          <p:nvPr/>
        </p:nvSpPr>
        <p:spPr>
          <a:xfrm>
            <a:off x="8414766" y="2914650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480060" y="2194560"/>
            <a:ext cx="5623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pt-BR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Metodologia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480060" y="318897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5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BFD6D5"/>
                </a:solidFill>
                <a:latin typeface="Calibri"/>
                <a:ea typeface="Calibri"/>
                <a:cs typeface="Calibri"/>
                <a:sym typeface="Calibri"/>
              </a:rPr>
              <a:t>Fonte dos dados, construção da rede e propriedades estruturais por instituto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5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BFD6D5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METODOLOGIA  ·  3.1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Fonte e aquisição dos dados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11480" y="1303020"/>
            <a:ext cx="48691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OpenAlex — infraestrutura aberta de indexação de literatura científica (Priem et al., 2022), consultada via API.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Escopo inicial insuficiente: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restringir a coleta só ao IMC deixava de fora colaborações relevantes com outros institutos da própria UNIFEI.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Escopo final: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todos os pesquisadores associados à UNIFEI; instituto de cada um recuperado a partir do texto de afiliação de cada publicação.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Período: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publicações entre 01/01/2020 e 19/08/2026.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Unidade de observação: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pesquisador (nó) e par de pesquisadores em coautoria (aresta).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5486400" y="1337310"/>
            <a:ext cx="3223260" cy="3120390"/>
          </a:xfrm>
          <a:prstGeom prst="roundRect">
            <a:avLst>
              <a:gd fmla="val 1758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5726430" y="1543050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mbr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Limitações reconhecidas pela fonte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 txBox="1"/>
          <p:nvPr/>
        </p:nvSpPr>
        <p:spPr>
          <a:xfrm>
            <a:off x="5726430" y="1988820"/>
            <a:ext cx="2743200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8415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100"/>
              <a:buFont typeface="Calibri"/>
              <a:buChar char="●"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Desambiguação de autores (identificadores duplicados ou indevidamente mesclados)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D2B2C"/>
              </a:buClr>
              <a:buSzPts val="1100"/>
              <a:buFont typeface="Calibri"/>
              <a:buChar char="●"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Padronização heterogênea do texto de afiliação institucional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D2B2C"/>
              </a:buClr>
              <a:buSzPts val="1100"/>
              <a:buFont typeface="Calibri"/>
              <a:buChar char="●"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Cobertura incompleta de veículos não indexados (ex.: alguns anais nacionais)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METODOLOGIA  ·  3.2 / 3.4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Caracterização do dataset e representação da rede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411480" y="1337310"/>
            <a:ext cx="1954530" cy="1062990"/>
          </a:xfrm>
          <a:prstGeom prst="roundRect">
            <a:avLst>
              <a:gd fmla="val 5161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411480" y="1405890"/>
            <a:ext cx="19545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2400"/>
              <a:buFont typeface="Cambria"/>
              <a:buNone/>
            </a:pPr>
            <a:r>
              <a:rPr b="1" i="0" lang="pt-BR" sz="2400" u="none" cap="none" strike="noStrike">
                <a:solidFill>
                  <a:srgbClr val="911EB4"/>
                </a:solidFill>
                <a:latin typeface="Cambria"/>
                <a:ea typeface="Cambria"/>
                <a:cs typeface="Cambria"/>
                <a:sym typeface="Cambria"/>
              </a:rPr>
              <a:t>3.938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514350" y="1920240"/>
            <a:ext cx="174879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pesquisadores (nós)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2448306" y="1337310"/>
            <a:ext cx="1954530" cy="1062990"/>
          </a:xfrm>
          <a:prstGeom prst="roundRect">
            <a:avLst>
              <a:gd fmla="val 5161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2448306" y="1405890"/>
            <a:ext cx="19545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2400"/>
              <a:buFont typeface="Cambria"/>
              <a:buNone/>
            </a:pPr>
            <a:r>
              <a:rPr b="1" i="0" lang="pt-BR" sz="2400" u="none" cap="none" strike="noStrike">
                <a:solidFill>
                  <a:srgbClr val="911EB4"/>
                </a:solidFill>
                <a:latin typeface="Cambria"/>
                <a:ea typeface="Cambria"/>
                <a:cs typeface="Cambria"/>
                <a:sym typeface="Cambria"/>
              </a:rPr>
              <a:t>11.410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2551176" y="1920240"/>
            <a:ext cx="174879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relações de coautoria (arestas)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4485132" y="1337310"/>
            <a:ext cx="1954530" cy="1062990"/>
          </a:xfrm>
          <a:prstGeom prst="roundRect">
            <a:avLst>
              <a:gd fmla="val 5161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4485132" y="1405890"/>
            <a:ext cx="19545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2400"/>
              <a:buFont typeface="Cambria"/>
              <a:buNone/>
            </a:pPr>
            <a:r>
              <a:rPr b="1" i="0" lang="pt-BR" sz="2400" u="none" cap="none" strike="noStrike">
                <a:solidFill>
                  <a:srgbClr val="911EB4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4588002" y="1920240"/>
            <a:ext cx="174879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institutos comparados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6521958" y="1337310"/>
            <a:ext cx="1954530" cy="1062990"/>
          </a:xfrm>
          <a:prstGeom prst="roundRect">
            <a:avLst>
              <a:gd fmla="val 5161" name="adj"/>
            </a:avLst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6521958" y="1405890"/>
            <a:ext cx="19545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29%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 txBox="1"/>
          <p:nvPr/>
        </p:nvSpPr>
        <p:spPr>
          <a:xfrm>
            <a:off x="6624828" y="1920240"/>
            <a:ext cx="174879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9E8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D9E9E8"/>
                </a:solidFill>
                <a:latin typeface="Calibri"/>
                <a:ea typeface="Calibri"/>
                <a:cs typeface="Calibri"/>
                <a:sym typeface="Calibri"/>
              </a:rPr>
              <a:t>pesquisadores identificados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9E8"/>
              </a:buClr>
              <a:buSzPts val="800"/>
              <a:buFont typeface="Calibri"/>
              <a:buNone/>
            </a:pPr>
            <a:r>
              <a:rPr b="0" i="0" lang="pt-BR" sz="1100" u="none" cap="none" strike="noStrike">
                <a:solidFill>
                  <a:srgbClr val="D9E9E8"/>
                </a:solidFill>
                <a:latin typeface="Calibri"/>
                <a:ea typeface="Calibri"/>
                <a:cs typeface="Calibri"/>
                <a:sym typeface="Calibri"/>
              </a:rPr>
              <a:t>por instituto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 txBox="1"/>
          <p:nvPr/>
        </p:nvSpPr>
        <p:spPr>
          <a:xfrm>
            <a:off x="411480" y="2674620"/>
            <a:ext cx="82983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Tipo de rede: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não direcionada e ponderada — peso = nº de trabalhos publicados em conjunto.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Matriz de adjacência: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Aᵢⱼ = wᵢⱼ se i e j colaboraram; simetria (Aᵢⱼ = Aⱼᵢ) confirmada computacionalmente.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Rede geral + 8 subredes: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além da rede com todos os 3.938 pesquisadores, uma subrede intra-instituto para cada um dos 8 institutos (só arestas entre pares do mesmo instituto).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METODOLOGIA  ·  3.5  ·  FIGURA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411480" y="438525"/>
            <a:ext cx="7955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Rede geral de colaboração da UNIFEI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6515100" y="1337310"/>
            <a:ext cx="2229000" cy="3566100"/>
          </a:xfrm>
          <a:prstGeom prst="roundRect">
            <a:avLst>
              <a:gd fmla="val 246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6515100" y="1508760"/>
            <a:ext cx="2229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3000"/>
              <a:buFont typeface="Cambria"/>
              <a:buNone/>
            </a:pPr>
            <a:r>
              <a:rPr b="1" i="0" lang="pt-BR" sz="30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2.987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6515100" y="2091690"/>
            <a:ext cx="2229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pesquisadores no maior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componente conexo (76%)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30"/>
          <p:cNvCxnSpPr/>
          <p:nvPr/>
        </p:nvCxnSpPr>
        <p:spPr>
          <a:xfrm>
            <a:off x="6755130" y="2606040"/>
            <a:ext cx="1748790" cy="0"/>
          </a:xfrm>
          <a:prstGeom prst="straightConnector1">
            <a:avLst/>
          </a:prstGeom>
          <a:noFill/>
          <a:ln cap="flat" cmpd="sng" w="12700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30"/>
          <p:cNvSpPr txBox="1"/>
          <p:nvPr/>
        </p:nvSpPr>
        <p:spPr>
          <a:xfrm>
            <a:off x="6720840" y="2743200"/>
            <a:ext cx="18174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Colorido por institu</a:t>
            </a:r>
            <a:r>
              <a:rPr lang="pt-BR" sz="1100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; tamanho do nó = grau; rótulos = 15 pesquisadores de maior grau.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6720840" y="3771900"/>
            <a:ext cx="181737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900"/>
              <a:buFont typeface="Calibri"/>
              <a:buNone/>
            </a:pPr>
            <a:r>
              <a:rPr b="0" i="1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A rede geral possui 3.938 nós e 11.410 arestas, distribuídos em múltiplos componentes conexos.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244" y="940375"/>
            <a:ext cx="6045855" cy="3860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METODOLOGIA  ·  3.6  ·  FIGURA 2 / TABELA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Distribuições de grau e de peso das arestas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1_distribuicao_geral.png" id="349" name="Google Shape;3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337310"/>
            <a:ext cx="5692140" cy="2132838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1"/>
          <p:cNvSpPr txBox="1"/>
          <p:nvPr/>
        </p:nvSpPr>
        <p:spPr>
          <a:xfrm>
            <a:off x="342900" y="3566160"/>
            <a:ext cx="569214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Ambas as distribuições têm cauda longa: a maioria colabora pouco, poucos hubs concentram muitas conexões — padrão compatível com ligação preferencial (Barabási &amp; Albert, 1999).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6275070" y="1337310"/>
            <a:ext cx="2468880" cy="3017520"/>
          </a:xfrm>
          <a:prstGeom prst="roundRect">
            <a:avLst>
              <a:gd fmla="val 222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6480810" y="15087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mbr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Medidas descritivas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6480810" y="1920240"/>
            <a:ext cx="2057400" cy="288036"/>
          </a:xfrm>
          <a:prstGeom prst="rect">
            <a:avLst/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6549390" y="1920240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7475220" y="1920240"/>
            <a:ext cx="5829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 txBox="1"/>
          <p:nvPr/>
        </p:nvSpPr>
        <p:spPr>
          <a:xfrm>
            <a:off x="8023860" y="1920240"/>
            <a:ext cx="5829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6549390" y="2208276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Mínimo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7475220" y="2208276"/>
            <a:ext cx="5829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8023860" y="2208276"/>
            <a:ext cx="5829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6480810" y="2496312"/>
            <a:ext cx="2057400" cy="288036"/>
          </a:xfrm>
          <a:prstGeom prst="rect">
            <a:avLst/>
          </a:prstGeom>
          <a:solidFill>
            <a:srgbClr val="DFEB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1"/>
          <p:cNvSpPr txBox="1"/>
          <p:nvPr/>
        </p:nvSpPr>
        <p:spPr>
          <a:xfrm>
            <a:off x="6549390" y="2496312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Mediana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 txBox="1"/>
          <p:nvPr/>
        </p:nvSpPr>
        <p:spPr>
          <a:xfrm>
            <a:off x="7475220" y="2496312"/>
            <a:ext cx="5829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8023860" y="2496312"/>
            <a:ext cx="5829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6549390" y="2784348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 txBox="1"/>
          <p:nvPr/>
        </p:nvSpPr>
        <p:spPr>
          <a:xfrm>
            <a:off x="7475220" y="2784348"/>
            <a:ext cx="5829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6,98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 txBox="1"/>
          <p:nvPr/>
        </p:nvSpPr>
        <p:spPr>
          <a:xfrm>
            <a:off x="8023860" y="2784348"/>
            <a:ext cx="5829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1,73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6480810" y="3072384"/>
            <a:ext cx="2057400" cy="288036"/>
          </a:xfrm>
          <a:prstGeom prst="rect">
            <a:avLst/>
          </a:prstGeom>
          <a:solidFill>
            <a:srgbClr val="DFEB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1"/>
          <p:cNvSpPr txBox="1"/>
          <p:nvPr/>
        </p:nvSpPr>
        <p:spPr>
          <a:xfrm>
            <a:off x="6549390" y="3072384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Máximo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7475220" y="3072384"/>
            <a:ext cx="5829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114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1"/>
          <p:cNvSpPr txBox="1"/>
          <p:nvPr/>
        </p:nvSpPr>
        <p:spPr>
          <a:xfrm>
            <a:off x="8023860" y="3072384"/>
            <a:ext cx="58293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6480810" y="3463290"/>
            <a:ext cx="2057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1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Base: maior componente da rede geral (2.987 nós, 10.432 arestas).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METODOLOGIA  ·  3.7 / 3.8  ·  FIGURA 3 / TABELA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2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Comparação estrutural entre institutos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3_comparativo_institutos.png"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268730"/>
            <a:ext cx="4491990" cy="336042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5040630" y="1337310"/>
            <a:ext cx="3703320" cy="33604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IEI (52 pesq.):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menor instituto, mas maior densidade (0,096) e maior coef. de agrupamento global (0,514).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IMC (74 pesq.):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menor coef. de agrupamento médio do conjunto (0,452) — colaboração comparativamente menos coesa que institutos de porte semelhante.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IRN e IFQ (maior porte):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densidade mais baixa — padrão esperado em redes maiores (Newman, 2010).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Padrão geral: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todos os institutos se fragmentam em múltiplos componentes conexos — não é uma particularidade do IMC.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2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2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METODOLOGIA  ·  3.9  ·  TABELAS 7 E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Qualidade dos dados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411480" y="1337310"/>
            <a:ext cx="4046220" cy="3188970"/>
          </a:xfrm>
          <a:prstGeom prst="roundRect">
            <a:avLst>
              <a:gd fmla="val 1720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617220" y="1529334"/>
            <a:ext cx="36347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mbr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Verificações estruturais automáticas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3"/>
          <p:cNvSpPr/>
          <p:nvPr/>
        </p:nvSpPr>
        <p:spPr>
          <a:xfrm>
            <a:off x="617220" y="1920240"/>
            <a:ext cx="3634740" cy="377190"/>
          </a:xfrm>
          <a:prstGeom prst="rect">
            <a:avLst/>
          </a:prstGeom>
          <a:solidFill>
            <a:srgbClr val="DFEB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3"/>
          <p:cNvSpPr txBox="1"/>
          <p:nvPr/>
        </p:nvSpPr>
        <p:spPr>
          <a:xfrm>
            <a:off x="720090" y="1920240"/>
            <a:ext cx="2949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Valores ausentes (nodes/edges)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3"/>
          <p:cNvSpPr txBox="1"/>
          <p:nvPr/>
        </p:nvSpPr>
        <p:spPr>
          <a:xfrm>
            <a:off x="3634740" y="1920240"/>
            <a:ext cx="5486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5C62"/>
              </a:buClr>
              <a:buSzPts val="1000"/>
              <a:buFont typeface="Calibri"/>
              <a:buNone/>
            </a:pPr>
            <a:r>
              <a:rPr b="1" i="0" lang="pt-BR" sz="1200" u="none" cap="none" strike="noStrike">
                <a:solidFill>
                  <a:srgbClr val="1B5C6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3"/>
          <p:cNvSpPr txBox="1"/>
          <p:nvPr/>
        </p:nvSpPr>
        <p:spPr>
          <a:xfrm>
            <a:off x="720090" y="2297430"/>
            <a:ext cx="29489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Self-loops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3"/>
          <p:cNvSpPr txBox="1"/>
          <p:nvPr/>
        </p:nvSpPr>
        <p:spPr>
          <a:xfrm>
            <a:off x="3634740" y="2297430"/>
            <a:ext cx="5486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5C62"/>
              </a:buClr>
              <a:buSzPts val="1000"/>
              <a:buFont typeface="Calibri"/>
              <a:buNone/>
            </a:pPr>
            <a:r>
              <a:rPr b="1" i="0" lang="pt-BR" sz="1200" u="none" cap="none" strike="noStrike">
                <a:solidFill>
                  <a:srgbClr val="1B5C6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617220" y="2674620"/>
            <a:ext cx="3634740" cy="377190"/>
          </a:xfrm>
          <a:prstGeom prst="rect">
            <a:avLst/>
          </a:prstGeom>
          <a:solidFill>
            <a:srgbClr val="DFEB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"/>
          <p:cNvSpPr txBox="1"/>
          <p:nvPr/>
        </p:nvSpPr>
        <p:spPr>
          <a:xfrm>
            <a:off x="720090" y="2674620"/>
            <a:ext cx="29489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Arestas duplicadas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3"/>
          <p:cNvSpPr txBox="1"/>
          <p:nvPr/>
        </p:nvSpPr>
        <p:spPr>
          <a:xfrm>
            <a:off x="3634740" y="2674620"/>
            <a:ext cx="5486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5C62"/>
              </a:buClr>
              <a:buSzPts val="1000"/>
              <a:buFont typeface="Calibri"/>
              <a:buNone/>
            </a:pPr>
            <a:r>
              <a:rPr b="1" i="0" lang="pt-BR" sz="1200" u="none" cap="none" strike="noStrike">
                <a:solidFill>
                  <a:srgbClr val="1B5C6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3"/>
          <p:cNvSpPr txBox="1"/>
          <p:nvPr/>
        </p:nvSpPr>
        <p:spPr>
          <a:xfrm>
            <a:off x="720090" y="3051810"/>
            <a:ext cx="29489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Pesos inválidos (≤ 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3"/>
          <p:cNvSpPr txBox="1"/>
          <p:nvPr/>
        </p:nvSpPr>
        <p:spPr>
          <a:xfrm>
            <a:off x="3634740" y="3051810"/>
            <a:ext cx="5486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5C62"/>
              </a:buClr>
              <a:buSzPts val="1000"/>
              <a:buFont typeface="Calibri"/>
              <a:buNone/>
            </a:pPr>
            <a:r>
              <a:rPr b="1" i="0" lang="pt-BR" sz="1200" u="none" cap="none" strike="noStrike">
                <a:solidFill>
                  <a:srgbClr val="1B5C6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617220" y="3429000"/>
            <a:ext cx="3634740" cy="377190"/>
          </a:xfrm>
          <a:prstGeom prst="rect">
            <a:avLst/>
          </a:prstGeom>
          <a:solidFill>
            <a:srgbClr val="DFEB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3"/>
          <p:cNvSpPr txBox="1"/>
          <p:nvPr/>
        </p:nvSpPr>
        <p:spPr>
          <a:xfrm>
            <a:off x="720090" y="3429000"/>
            <a:ext cx="29489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Ids órfãos em edges.csv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3"/>
          <p:cNvSpPr txBox="1"/>
          <p:nvPr/>
        </p:nvSpPr>
        <p:spPr>
          <a:xfrm>
            <a:off x="3634740" y="3429000"/>
            <a:ext cx="5486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5C62"/>
              </a:buClr>
              <a:buSzPts val="1000"/>
              <a:buFont typeface="Calibri"/>
              <a:buNone/>
            </a:pPr>
            <a:r>
              <a:rPr b="1" i="0" lang="pt-BR" sz="1200" u="none" cap="none" strike="noStrike">
                <a:solidFill>
                  <a:srgbClr val="1B5C6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3"/>
          <p:cNvSpPr txBox="1"/>
          <p:nvPr/>
        </p:nvSpPr>
        <p:spPr>
          <a:xfrm>
            <a:off x="720090" y="3806190"/>
            <a:ext cx="29489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Nós isolados (sem coautoria)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3"/>
          <p:cNvSpPr txBox="1"/>
          <p:nvPr/>
        </p:nvSpPr>
        <p:spPr>
          <a:xfrm>
            <a:off x="3634740" y="3806190"/>
            <a:ext cx="5486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1000"/>
              <a:buFont typeface="Calibri"/>
              <a:buNone/>
            </a:pPr>
            <a:r>
              <a:rPr b="1" i="0" lang="pt-BR" sz="12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332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4663440" y="1337310"/>
            <a:ext cx="4046220" cy="3188970"/>
          </a:xfrm>
          <a:prstGeom prst="roundRect">
            <a:avLst>
              <a:gd fmla="val 1720" name="adj"/>
            </a:avLst>
          </a:prstGeom>
          <a:solidFill>
            <a:srgbClr val="1246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"/>
          <p:cNvSpPr txBox="1"/>
          <p:nvPr/>
        </p:nvSpPr>
        <p:spPr>
          <a:xfrm>
            <a:off x="4869180" y="1529334"/>
            <a:ext cx="36347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Limitações identificadas por inspeção manual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 txBox="1"/>
          <p:nvPr/>
        </p:nvSpPr>
        <p:spPr>
          <a:xfrm>
            <a:off x="4869180" y="1954530"/>
            <a:ext cx="363474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8F5"/>
              </a:buClr>
              <a:buSzPts val="900"/>
              <a:buFont typeface="Calibri"/>
              <a:buNone/>
            </a:pPr>
            <a:r>
              <a:rPr b="1" i="0" lang="pt-BR" sz="1100" u="none" cap="none" strike="noStrike">
                <a:solidFill>
                  <a:srgbClr val="F0D8F5"/>
                </a:solidFill>
                <a:latin typeface="Calibri"/>
                <a:ea typeface="Calibri"/>
                <a:cs typeface="Calibri"/>
                <a:sym typeface="Calibri"/>
              </a:rPr>
              <a:t>Instituto não identificado </a:t>
            </a:r>
            <a:r>
              <a:rPr b="0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(70,6% / 2.780 pesquisadores): motivou a ampliação do escopo de “apenas IMC” para toda a UNIFEI.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F0D8F5"/>
              </a:buClr>
              <a:buSzPts val="900"/>
              <a:buFont typeface="Calibri"/>
              <a:buNone/>
            </a:pPr>
            <a:r>
              <a:rPr b="1" lang="pt-BR" sz="1100">
                <a:solidFill>
                  <a:srgbClr val="F0D8F5"/>
                </a:solidFill>
                <a:latin typeface="Calibri"/>
                <a:ea typeface="Calibri"/>
                <a:cs typeface="Calibri"/>
                <a:sym typeface="Calibri"/>
              </a:rPr>
              <a:t>Erros de desambiguação de autores </a:t>
            </a:r>
            <a:r>
              <a:rPr b="0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(risco maior nos hubs): </a:t>
            </a:r>
            <a:r>
              <a:rPr lang="pt-B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risco de confundir/separar autores incorretamente, pode distorcer o grau de conexão, especialmente nos hubs.</a:t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F0D8F5"/>
              </a:buClr>
              <a:buSzPts val="900"/>
              <a:buFont typeface="Calibri"/>
              <a:buNone/>
            </a:pPr>
            <a:r>
              <a:t/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F0D8F5"/>
              </a:buClr>
              <a:buSzPts val="900"/>
              <a:buFont typeface="Calibri"/>
              <a:buNone/>
            </a:pPr>
            <a:r>
              <a:t/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4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METODOLOGIA  ·  3.10 / 3.11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4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Padrões identificados e viabilidade do dataset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411480" y="1337310"/>
            <a:ext cx="8298180" cy="788670"/>
          </a:xfrm>
          <a:prstGeom prst="roundRect">
            <a:avLst>
              <a:gd fmla="val 6957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4"/>
          <p:cNvSpPr/>
          <p:nvPr/>
        </p:nvSpPr>
        <p:spPr>
          <a:xfrm>
            <a:off x="582930" y="1495044"/>
            <a:ext cx="1714500" cy="466344"/>
          </a:xfrm>
          <a:prstGeom prst="roundRect">
            <a:avLst>
              <a:gd fmla="val 50000" name="adj"/>
            </a:avLst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4"/>
          <p:cNvSpPr txBox="1"/>
          <p:nvPr/>
        </p:nvSpPr>
        <p:spPr>
          <a:xfrm>
            <a:off x="582930" y="1495044"/>
            <a:ext cx="17145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Adequado com ressalvas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2468880" y="1495044"/>
            <a:ext cx="60350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Classificação do dataset ampliado (8 institutos) para a construção e análise comparativa das redes de colaboração.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4"/>
          <p:cNvSpPr txBox="1"/>
          <p:nvPr/>
        </p:nvSpPr>
        <p:spPr>
          <a:xfrm>
            <a:off x="411471" y="2297425"/>
            <a:ext cx="82983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Fragmentação em componentes: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presente em todos os institutos — padrão recorrente, não exclusividade do IMC.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Porte × coesão: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institutos menores tendem a maior densidade e agrupamento (grupos proporcionalmente mais coesos).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Cauda longa na distribuição de grau: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hubs concentrados sobretudo entre pesquisadores com colaborações entre institutos.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IMC: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posição estrutural relativamente menos coesa que institutos de porte semelhante — achado só visível com a coleta ampliada.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4"/>
          <p:cNvSpPr txBox="1"/>
          <p:nvPr/>
        </p:nvSpPr>
        <p:spPr>
          <a:xfrm>
            <a:off x="5726430" y="2468880"/>
            <a:ext cx="27774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Próximas etapas (Modelagem)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4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464B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35"/>
          <p:cNvCxnSpPr/>
          <p:nvPr/>
        </p:nvCxnSpPr>
        <p:spPr>
          <a:xfrm flipH="1" rot="10800000">
            <a:off x="6364224" y="1251585"/>
            <a:ext cx="521208" cy="150876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35"/>
          <p:cNvCxnSpPr/>
          <p:nvPr/>
        </p:nvCxnSpPr>
        <p:spPr>
          <a:xfrm flipH="1" rot="10800000">
            <a:off x="6885432" y="1062990"/>
            <a:ext cx="781812" cy="188595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35"/>
          <p:cNvCxnSpPr/>
          <p:nvPr/>
        </p:nvCxnSpPr>
        <p:spPr>
          <a:xfrm flipH="1" rot="10800000">
            <a:off x="6364224" y="2005965"/>
            <a:ext cx="1954530" cy="75438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35"/>
          <p:cNvCxnSpPr/>
          <p:nvPr/>
        </p:nvCxnSpPr>
        <p:spPr>
          <a:xfrm flipH="1">
            <a:off x="7276338" y="2005965"/>
            <a:ext cx="1042416" cy="37719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35"/>
          <p:cNvCxnSpPr/>
          <p:nvPr/>
        </p:nvCxnSpPr>
        <p:spPr>
          <a:xfrm>
            <a:off x="6885432" y="1251585"/>
            <a:ext cx="390906" cy="113157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35"/>
          <p:cNvCxnSpPr/>
          <p:nvPr/>
        </p:nvCxnSpPr>
        <p:spPr>
          <a:xfrm flipH="1">
            <a:off x="6624828" y="2383155"/>
            <a:ext cx="651510" cy="150876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35"/>
          <p:cNvCxnSpPr/>
          <p:nvPr/>
        </p:nvCxnSpPr>
        <p:spPr>
          <a:xfrm>
            <a:off x="7276338" y="2383155"/>
            <a:ext cx="443026" cy="113157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35"/>
          <p:cNvCxnSpPr/>
          <p:nvPr/>
        </p:nvCxnSpPr>
        <p:spPr>
          <a:xfrm flipH="1" rot="10800000">
            <a:off x="7719365" y="2948940"/>
            <a:ext cx="729691" cy="565785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35"/>
          <p:cNvCxnSpPr/>
          <p:nvPr/>
        </p:nvCxnSpPr>
        <p:spPr>
          <a:xfrm flipH="1">
            <a:off x="7276338" y="1062990"/>
            <a:ext cx="390906" cy="1320165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35"/>
          <p:cNvSpPr/>
          <p:nvPr/>
        </p:nvSpPr>
        <p:spPr>
          <a:xfrm>
            <a:off x="6309360" y="2705481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5"/>
          <p:cNvSpPr/>
          <p:nvPr/>
        </p:nvSpPr>
        <p:spPr>
          <a:xfrm>
            <a:off x="6851142" y="1217295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7632954" y="1028700"/>
            <a:ext cx="68580" cy="6858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8263890" y="1951101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7242048" y="2348865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5"/>
          <p:cNvSpPr/>
          <p:nvPr/>
        </p:nvSpPr>
        <p:spPr>
          <a:xfrm>
            <a:off x="6590538" y="3857625"/>
            <a:ext cx="68580" cy="6858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7664501" y="3459861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8414766" y="2914650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5"/>
          <p:cNvSpPr txBox="1"/>
          <p:nvPr/>
        </p:nvSpPr>
        <p:spPr>
          <a:xfrm>
            <a:off x="480060" y="2194560"/>
            <a:ext cx="5623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pt-BR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Modelagem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5"/>
          <p:cNvSpPr txBox="1"/>
          <p:nvPr/>
        </p:nvSpPr>
        <p:spPr>
          <a:xfrm>
            <a:off x="480060" y="318897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D6D5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BFD6D5"/>
                </a:solidFill>
                <a:latin typeface="Calibri"/>
                <a:ea typeface="Calibri"/>
                <a:cs typeface="Calibri"/>
                <a:sym typeface="Calibri"/>
              </a:rPr>
              <a:t>Comparação da rede baseline com modelos clássicos (ER, WS, BA) e alternativos (Holme–Kim, LFR)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5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D6D5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BFD6D5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5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6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MODELAGEM  ·  4.1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6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Objetivo e modelos testados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6"/>
          <p:cNvSpPr txBox="1"/>
          <p:nvPr/>
        </p:nvSpPr>
        <p:spPr>
          <a:xfrm>
            <a:off x="411480" y="1303020"/>
            <a:ext cx="45262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avaliar a qual modelo clássico de rede a rede baseline melhor se enquadra, com base nas propriedades estruturais observadas.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Rede de referência: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maior componente conexo da rede geral (N = 2.987, L = 10.432).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Replicações: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20 execuções por modelo (ER, WS, BA, Holme–Kim), com sementes distintas, para checar consistência dos resultados.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Parâmetros: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N e L (ou ⟨k⟩) mantidos equivalentes à baseline em cada modelo, sempre que a formulação permitiu.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6"/>
          <p:cNvSpPr/>
          <p:nvPr/>
        </p:nvSpPr>
        <p:spPr>
          <a:xfrm>
            <a:off x="5212080" y="1337310"/>
            <a:ext cx="3497580" cy="3154680"/>
          </a:xfrm>
          <a:prstGeom prst="roundRect">
            <a:avLst>
              <a:gd fmla="val 1739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6"/>
          <p:cNvSpPr txBox="1"/>
          <p:nvPr/>
        </p:nvSpPr>
        <p:spPr>
          <a:xfrm>
            <a:off x="5452110" y="1543050"/>
            <a:ext cx="30175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mbria"/>
              <a:buNone/>
            </a:pPr>
            <a:r>
              <a:rPr b="1" i="0" lang="pt-BR" sz="12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5 modelos testados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6"/>
          <p:cNvSpPr txBox="1"/>
          <p:nvPr/>
        </p:nvSpPr>
        <p:spPr>
          <a:xfrm>
            <a:off x="5452110" y="198882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Clássicos: Erdős–Rényi (ER), Watts–Strogatz (WS) e Barabási–Albert (BA).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36"/>
          <p:cNvCxnSpPr/>
          <p:nvPr/>
        </p:nvCxnSpPr>
        <p:spPr>
          <a:xfrm>
            <a:off x="5452110" y="3223260"/>
            <a:ext cx="3017520" cy="0"/>
          </a:xfrm>
          <a:prstGeom prst="straightConnector1">
            <a:avLst/>
          </a:prstGeom>
          <a:noFill/>
          <a:ln cap="flat" cmpd="sng" w="12700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36"/>
          <p:cNvSpPr txBox="1"/>
          <p:nvPr/>
        </p:nvSpPr>
        <p:spPr>
          <a:xfrm>
            <a:off x="5452110" y="3360420"/>
            <a:ext cx="30175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Alternativos: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6"/>
          <p:cNvSpPr txBox="1"/>
          <p:nvPr/>
        </p:nvSpPr>
        <p:spPr>
          <a:xfrm>
            <a:off x="5452110" y="3600450"/>
            <a:ext cx="30175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Holme–Kim (fechamento de tríades) e LFR (comunidades explícitas) — testados após nenhum modelo clássico reproduzir hubs e alto agrupamento simultaneamente.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6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7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MODELAGEM  ·  4.2  ·  FIGURA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7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Distribuição de grau — CCDF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0_rede_geral_crop.png" id="475" name="Google Shape;47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980" y="1403245"/>
            <a:ext cx="3976300" cy="34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7"/>
          <p:cNvSpPr/>
          <p:nvPr/>
        </p:nvSpPr>
        <p:spPr>
          <a:xfrm>
            <a:off x="6515100" y="1337310"/>
            <a:ext cx="2228850" cy="3566160"/>
          </a:xfrm>
          <a:prstGeom prst="roundRect">
            <a:avLst>
              <a:gd fmla="val 246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7"/>
          <p:cNvSpPr txBox="1"/>
          <p:nvPr/>
        </p:nvSpPr>
        <p:spPr>
          <a:xfrm>
            <a:off x="6515100" y="1508760"/>
            <a:ext cx="22288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3000"/>
              <a:buFont typeface="Cambria"/>
              <a:buNone/>
            </a:pPr>
            <a:r>
              <a:rPr b="1" i="0" lang="pt-BR" sz="30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k &gt; 100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7"/>
          <p:cNvSpPr txBox="1"/>
          <p:nvPr/>
        </p:nvSpPr>
        <p:spPr>
          <a:xfrm>
            <a:off x="6515100" y="2091690"/>
            <a:ext cx="222885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grau observado nos hubs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da rede baseline (real)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p37"/>
          <p:cNvCxnSpPr/>
          <p:nvPr/>
        </p:nvCxnSpPr>
        <p:spPr>
          <a:xfrm>
            <a:off x="6755130" y="2606040"/>
            <a:ext cx="1748790" cy="0"/>
          </a:xfrm>
          <a:prstGeom prst="straightConnector1">
            <a:avLst/>
          </a:prstGeom>
          <a:noFill/>
          <a:ln cap="flat" cmpd="sng" w="12700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37"/>
          <p:cNvSpPr txBox="1"/>
          <p:nvPr/>
        </p:nvSpPr>
        <p:spPr>
          <a:xfrm>
            <a:off x="6720840" y="2743200"/>
            <a:ext cx="181737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CCDF do grau (escala log-log): baseline vs. ER, WS e BA.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7"/>
          <p:cNvSpPr txBox="1"/>
          <p:nvPr/>
        </p:nvSpPr>
        <p:spPr>
          <a:xfrm>
            <a:off x="6720840" y="3771900"/>
            <a:ext cx="181737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900"/>
              <a:buFont typeface="Calibri"/>
              <a:buNone/>
            </a:pPr>
            <a:r>
              <a:rPr b="0" i="1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Só o BA reproduz a cauda longa; ER e WS não geram hubs — compatível com H1.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7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7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8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MODELAGEM  ·  4.3  ·  FIGURA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8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Distribuições de grau por modelo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8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8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ist_grid.png" id="492" name="Google Shape;4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7127" y="1350000"/>
            <a:ext cx="3129746" cy="25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8"/>
          <p:cNvSpPr txBox="1"/>
          <p:nvPr/>
        </p:nvSpPr>
        <p:spPr>
          <a:xfrm>
            <a:off x="411480" y="3900000"/>
            <a:ext cx="832104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05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Histogramas de grau (bins=30) para a baseline e os modelos ER, WS e BA — mesma leitura do CCDF: só o BA aproxima a forma da baseline, com cauda longa.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9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MODELAGEM  ·  4.4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9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Comparação com os modelos clássicos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9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9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2" name="Google Shape;502;p39"/>
          <p:cNvGraphicFramePr/>
          <p:nvPr/>
        </p:nvGraphicFramePr>
        <p:xfrm>
          <a:off x="411480" y="142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{E34F0935-2E90-4214-B168-EA6355FC9C7A}</a:tableStyleId>
              </a:tblPr>
              <a:tblGrid>
                <a:gridCol w="1442325"/>
                <a:gridCol w="1109475"/>
                <a:gridCol w="1109475"/>
                <a:gridCol w="1109475"/>
                <a:gridCol w="1109475"/>
                <a:gridCol w="1220425"/>
                <a:gridCol w="1220425"/>
              </a:tblGrid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Rede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⟨k⟩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⟨d⟩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Diâm.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 médio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 global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10.432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6,985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5,032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0,696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10.432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6,985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4,223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 (p=0,1)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11.948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8,000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5,976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8,65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0,471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0,460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 (m=3)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8.952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5,994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3,855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5,65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</a:tbl>
          </a:graphicData>
        </a:graphic>
      </p:graphicFrame>
      <p:sp>
        <p:nvSpPr>
          <p:cNvPr id="503" name="Google Shape;503;p39"/>
          <p:cNvSpPr txBox="1"/>
          <p:nvPr/>
        </p:nvSpPr>
        <p:spPr>
          <a:xfrm>
            <a:off x="411480" y="3300000"/>
            <a:ext cx="832104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Apenas o BA aproxima a heterogeneidade de grau da baseline; nenhum modelo clássico reproduz seu alto coeficiente de agrupamento (0,696).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0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MODELAGEM  ·  4.5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0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Efeito da variação de parâmetros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0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0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0"/>
          <p:cNvSpPr txBox="1"/>
          <p:nvPr/>
        </p:nvSpPr>
        <p:spPr>
          <a:xfrm>
            <a:off x="411480" y="1160000"/>
            <a:ext cx="3726478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Watts–Strogatz (N=2.987, k=8)</a:t>
            </a:r>
            <a:endParaRPr/>
          </a:p>
        </p:txBody>
      </p:sp>
      <p:sp>
        <p:nvSpPr>
          <p:cNvPr id="513" name="Google Shape;513;p40"/>
          <p:cNvSpPr txBox="1"/>
          <p:nvPr/>
        </p:nvSpPr>
        <p:spPr>
          <a:xfrm>
            <a:off x="4357958" y="1160000"/>
            <a:ext cx="4374562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Barabási–Albert (N=2.987)</a:t>
            </a:r>
            <a:endParaRPr/>
          </a:p>
        </p:txBody>
      </p:sp>
      <p:graphicFrame>
        <p:nvGraphicFramePr>
          <p:cNvPr id="514" name="Google Shape;514;p40"/>
          <p:cNvGraphicFramePr/>
          <p:nvPr/>
        </p:nvGraphicFramePr>
        <p:xfrm>
          <a:off x="411480" y="142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{E34F0935-2E90-4214-B168-EA6355FC9C7A}</a:tableStyleId>
              </a:tblPr>
              <a:tblGrid>
                <a:gridCol w="887250"/>
                <a:gridCol w="887250"/>
                <a:gridCol w="887250"/>
                <a:gridCol w="10647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⟨d⟩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Diâm.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 médio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14,38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26,7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0,624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7,30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0,551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0,471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4,63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0,224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4,11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5" name="Google Shape;515;p40"/>
          <p:cNvGraphicFramePr/>
          <p:nvPr/>
        </p:nvGraphicFramePr>
        <p:xfrm>
          <a:off x="4357958" y="142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{E34F0935-2E90-4214-B168-EA6355FC9C7A}</a:tableStyleId>
              </a:tblPr>
              <a:tblGrid>
                <a:gridCol w="699925"/>
                <a:gridCol w="874900"/>
                <a:gridCol w="874900"/>
                <a:gridCol w="874900"/>
                <a:gridCol w="1049900"/>
              </a:tblGrid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⟨k⟩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⟨d⟩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 médio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2.986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7,76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8.952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5,99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3,85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11.932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7,99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3,52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17.886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11,98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3,14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0,020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</a:tbl>
          </a:graphicData>
        </a:graphic>
      </p:graphicFrame>
      <p:sp>
        <p:nvSpPr>
          <p:cNvPr id="516" name="Google Shape;516;p40"/>
          <p:cNvSpPr txBox="1"/>
          <p:nvPr/>
        </p:nvSpPr>
        <p:spPr>
          <a:xfrm>
            <a:off x="411480" y="3640000"/>
            <a:ext cx="832104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Trade-off do WS entre distância e agrupamento; no BA, aumentar m aproxima L da baseline mas o agrupamento permanece marginal (≤0,02).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1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MODELAGEM  ·  4.6  ·  FIGURAS 7 E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1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Efeito da variação — visualização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1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1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s_tradeoff.png" id="525" name="Google Shape;52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536" y="1350000"/>
            <a:ext cx="3520408" cy="25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k_effect.png" id="526" name="Google Shape;52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7056" y="1350000"/>
            <a:ext cx="3520408" cy="25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 txBox="1"/>
          <p:nvPr/>
        </p:nvSpPr>
        <p:spPr>
          <a:xfrm>
            <a:off x="411480" y="3900000"/>
            <a:ext cx="832104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05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Watts–Strogatz (esquerda): trade-off entre distância e agrupamento ao variar p. Holme–Kim (direita): p eleva o agrupamento de 0,014 (BA puro) a 0,590, sem alcançar a baseline (0,696).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2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MODELAGEM  ·  4.7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2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Modelos alternativos: Holme–Kim e LFR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2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2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6" name="Google Shape;536;p42"/>
          <p:cNvGraphicFramePr/>
          <p:nvPr/>
        </p:nvGraphicFramePr>
        <p:xfrm>
          <a:off x="411480" y="142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{E34F0935-2E90-4214-B168-EA6355FC9C7A}</a:tableStyleId>
              </a:tblPr>
              <a:tblGrid>
                <a:gridCol w="1957900"/>
                <a:gridCol w="1223675"/>
                <a:gridCol w="1223675"/>
                <a:gridCol w="1223675"/>
                <a:gridCol w="1346050"/>
                <a:gridCol w="134605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Rede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⟨k⟩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Compon.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 médio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 global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10.432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6,99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0,696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 (m=3)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8.952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5,99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HK (m=3, p=1,0)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8.952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5,99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0,590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50" u="none" cap="none" strike="noStrike">
                          <a:solidFill>
                            <a:srgbClr val="911EB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0,109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LFR (μ=0,3)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5.847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3,91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0,033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LFR (μ=0,1)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13.691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9,17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0,196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5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0,081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7" name="Google Shape;537;p42"/>
          <p:cNvSpPr txBox="1"/>
          <p:nvPr/>
        </p:nvSpPr>
        <p:spPr>
          <a:xfrm>
            <a:off x="411480" y="3640000"/>
            <a:ext cx="832104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1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O Holme–Kim (destacado) supera o LFR em agrupamento, mesmo este sendo desenhado especificamente para gerar comunidades.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 txBox="1"/>
          <p:nvPr/>
        </p:nvSpPr>
        <p:spPr>
          <a:xfrm>
            <a:off x="411480" y="288036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MODELAGEM  ·  4.8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3"/>
          <p:cNvSpPr txBox="1"/>
          <p:nvPr/>
        </p:nvSpPr>
        <p:spPr>
          <a:xfrm>
            <a:off x="411480" y="514350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300"/>
              <a:buFont typeface="Cambr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Discussão: modelo mais aderente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3"/>
          <p:cNvSpPr/>
          <p:nvPr/>
        </p:nvSpPr>
        <p:spPr>
          <a:xfrm>
            <a:off x="411480" y="1337310"/>
            <a:ext cx="8298180" cy="788670"/>
          </a:xfrm>
          <a:prstGeom prst="roundRect">
            <a:avLst>
              <a:gd fmla="val 6957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3"/>
          <p:cNvSpPr/>
          <p:nvPr/>
        </p:nvSpPr>
        <p:spPr>
          <a:xfrm>
            <a:off x="582930" y="1495044"/>
            <a:ext cx="1714500" cy="466344"/>
          </a:xfrm>
          <a:prstGeom prst="roundRect">
            <a:avLst>
              <a:gd fmla="val 50000" name="adj"/>
            </a:avLst>
          </a:prstGeom>
          <a:solidFill>
            <a:srgbClr val="911E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3"/>
          <p:cNvSpPr txBox="1"/>
          <p:nvPr/>
        </p:nvSpPr>
        <p:spPr>
          <a:xfrm>
            <a:off x="582930" y="1495044"/>
            <a:ext cx="17145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Holme–Kim (m=3, p=1,0)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3"/>
          <p:cNvSpPr txBox="1"/>
          <p:nvPr/>
        </p:nvSpPr>
        <p:spPr>
          <a:xfrm>
            <a:off x="2468880" y="1495044"/>
            <a:ext cx="60350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Calibri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Modelo mais aderente à rede baseline entre os cinco testados (ER, WS, BA, Holme–Kim, LFR).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3"/>
          <p:cNvSpPr txBox="1"/>
          <p:nvPr/>
        </p:nvSpPr>
        <p:spPr>
          <a:xfrm>
            <a:off x="411471" y="2297425"/>
            <a:ext cx="82983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Heterogeneidade de grau: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herdada do mecanismo de ligação preferencial do BA — reproduz hubs, ao contrário do ER e do WS.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Agrupamento: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eleva o CA médio de 0,014 (BA puro) para 0,590 — cerca de 97% de redução da lacuna frente à baseline (0,696).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Vs. LFR: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supera o benchmark LFR (CA médio 0,12–0,20), mesmo desenhado especificamente para gerar comunidades.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2464B"/>
              </a:buClr>
              <a:buSzPts val="10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Lacuna remanescente: </a:t>
            </a:r>
            <a:r>
              <a:rPr b="0" i="0" lang="pt-BR" sz="1500" u="none" cap="none" strike="noStrike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nenhum modelo reproduz integralmente todas as propriedades da baseline. Próximo passo: detecção de comunidades e centralidade de intermediação (QP3, H3).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5726430" y="2468880"/>
            <a:ext cx="27774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3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3"/>
          <p:cNvSpPr txBox="1"/>
          <p:nvPr/>
        </p:nvSpPr>
        <p:spPr>
          <a:xfrm>
            <a:off x="8524494" y="480060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464B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6" name="Google Shape;556;p44"/>
          <p:cNvCxnSpPr/>
          <p:nvPr/>
        </p:nvCxnSpPr>
        <p:spPr>
          <a:xfrm flipH="1" rot="10800000">
            <a:off x="6364224" y="1251645"/>
            <a:ext cx="521100" cy="15087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44"/>
          <p:cNvCxnSpPr/>
          <p:nvPr/>
        </p:nvCxnSpPr>
        <p:spPr>
          <a:xfrm flipH="1" rot="10800000">
            <a:off x="6885432" y="1062885"/>
            <a:ext cx="781800" cy="1887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8" name="Google Shape;558;p44"/>
          <p:cNvCxnSpPr/>
          <p:nvPr/>
        </p:nvCxnSpPr>
        <p:spPr>
          <a:xfrm flipH="1" rot="10800000">
            <a:off x="6364224" y="2005845"/>
            <a:ext cx="1954500" cy="7545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44"/>
          <p:cNvCxnSpPr/>
          <p:nvPr/>
        </p:nvCxnSpPr>
        <p:spPr>
          <a:xfrm flipH="1">
            <a:off x="7276254" y="2005965"/>
            <a:ext cx="1042500" cy="3771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44"/>
          <p:cNvCxnSpPr/>
          <p:nvPr/>
        </p:nvCxnSpPr>
        <p:spPr>
          <a:xfrm>
            <a:off x="6885432" y="1251585"/>
            <a:ext cx="390900" cy="11316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1" name="Google Shape;561;p44"/>
          <p:cNvCxnSpPr/>
          <p:nvPr/>
        </p:nvCxnSpPr>
        <p:spPr>
          <a:xfrm flipH="1">
            <a:off x="6624738" y="2383155"/>
            <a:ext cx="651600" cy="15087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44"/>
          <p:cNvCxnSpPr/>
          <p:nvPr/>
        </p:nvCxnSpPr>
        <p:spPr>
          <a:xfrm>
            <a:off x="7276338" y="2383155"/>
            <a:ext cx="443100" cy="11316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44"/>
          <p:cNvCxnSpPr/>
          <p:nvPr/>
        </p:nvCxnSpPr>
        <p:spPr>
          <a:xfrm flipH="1" rot="10800000">
            <a:off x="7719365" y="2948925"/>
            <a:ext cx="729600" cy="5658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p44"/>
          <p:cNvCxnSpPr/>
          <p:nvPr/>
        </p:nvCxnSpPr>
        <p:spPr>
          <a:xfrm flipH="1">
            <a:off x="7276344" y="1062990"/>
            <a:ext cx="390900" cy="13203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5" name="Google Shape;565;p44"/>
          <p:cNvSpPr/>
          <p:nvPr/>
        </p:nvSpPr>
        <p:spPr>
          <a:xfrm>
            <a:off x="6309360" y="2705481"/>
            <a:ext cx="109800" cy="109800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4"/>
          <p:cNvSpPr/>
          <p:nvPr/>
        </p:nvSpPr>
        <p:spPr>
          <a:xfrm>
            <a:off x="6851142" y="1217295"/>
            <a:ext cx="68700" cy="6870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4"/>
          <p:cNvSpPr/>
          <p:nvPr/>
        </p:nvSpPr>
        <p:spPr>
          <a:xfrm>
            <a:off x="7632954" y="1028700"/>
            <a:ext cx="68700" cy="6870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4"/>
          <p:cNvSpPr/>
          <p:nvPr/>
        </p:nvSpPr>
        <p:spPr>
          <a:xfrm>
            <a:off x="8263890" y="1951101"/>
            <a:ext cx="109800" cy="109800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4"/>
          <p:cNvSpPr/>
          <p:nvPr/>
        </p:nvSpPr>
        <p:spPr>
          <a:xfrm>
            <a:off x="7242048" y="2348865"/>
            <a:ext cx="68700" cy="6870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4"/>
          <p:cNvSpPr/>
          <p:nvPr/>
        </p:nvSpPr>
        <p:spPr>
          <a:xfrm>
            <a:off x="6590538" y="3857625"/>
            <a:ext cx="68700" cy="6870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4"/>
          <p:cNvSpPr/>
          <p:nvPr/>
        </p:nvSpPr>
        <p:spPr>
          <a:xfrm>
            <a:off x="7664501" y="3459861"/>
            <a:ext cx="109800" cy="109800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8414766" y="2914650"/>
            <a:ext cx="68700" cy="6870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4"/>
          <p:cNvSpPr txBox="1"/>
          <p:nvPr/>
        </p:nvSpPr>
        <p:spPr>
          <a:xfrm>
            <a:off x="480060" y="2194560"/>
            <a:ext cx="5623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lang="pt-BR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Robustez e Resiliência da Rede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4"/>
          <p:cNvSpPr txBox="1"/>
          <p:nvPr/>
        </p:nvSpPr>
        <p:spPr>
          <a:xfrm>
            <a:off x="411480" y="480060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D6D5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BFD6D5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4"/>
          <p:cNvSpPr txBox="1"/>
          <p:nvPr/>
        </p:nvSpPr>
        <p:spPr>
          <a:xfrm>
            <a:off x="8524494" y="480060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lang="pt-BR" sz="800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5"/>
          <p:cNvSpPr txBox="1"/>
          <p:nvPr/>
        </p:nvSpPr>
        <p:spPr>
          <a:xfrm>
            <a:off x="411480" y="288036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lang="pt-BR" sz="900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ROBUSTEZ E RESILIÊNCIA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5"/>
          <p:cNvSpPr txBox="1"/>
          <p:nvPr/>
        </p:nvSpPr>
        <p:spPr>
          <a:xfrm>
            <a:off x="411475" y="1039950"/>
            <a:ext cx="8112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Calibri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500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Avaliar a robustez e a resiliência da rede, investigando em que medida sua estrutura preserva suas funcionalidades diante de perturbações</a:t>
            </a:r>
            <a:endParaRPr sz="1500">
              <a:solidFill>
                <a:srgbClr val="1D2B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5"/>
          <p:cNvSpPr txBox="1"/>
          <p:nvPr/>
        </p:nvSpPr>
        <p:spPr>
          <a:xfrm>
            <a:off x="411480" y="480060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5"/>
          <p:cNvSpPr txBox="1"/>
          <p:nvPr/>
        </p:nvSpPr>
        <p:spPr>
          <a:xfrm>
            <a:off x="8524494" y="480060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lang="pt-BR" sz="800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5"/>
          <p:cNvSpPr/>
          <p:nvPr/>
        </p:nvSpPr>
        <p:spPr>
          <a:xfrm>
            <a:off x="366694" y="1761175"/>
            <a:ext cx="2616000" cy="2527500"/>
          </a:xfrm>
          <a:prstGeom prst="roundRect">
            <a:avLst>
              <a:gd fmla="val 246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48600" lIns="48600" spcFirstLastPara="1" rIns="48600" wrap="square" tIns="4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5"/>
          <p:cNvSpPr txBox="1"/>
          <p:nvPr/>
        </p:nvSpPr>
        <p:spPr>
          <a:xfrm>
            <a:off x="366694" y="1882681"/>
            <a:ext cx="2616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00" lIns="48600" spcFirstLastPara="1" rIns="48600" wrap="square" tIns="2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126"/>
              <a:buFont typeface="Cambria"/>
              <a:buNone/>
            </a:pPr>
            <a:r>
              <a:rPr b="1" lang="pt-BR" sz="2126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Robustez</a:t>
            </a:r>
            <a:endParaRPr b="0" i="0" sz="21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5"/>
          <p:cNvSpPr txBox="1"/>
          <p:nvPr/>
        </p:nvSpPr>
        <p:spPr>
          <a:xfrm>
            <a:off x="366694" y="2353433"/>
            <a:ext cx="2616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00" lIns="48600" spcFirstLastPara="1" rIns="48600" wrap="square" tIns="2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638"/>
              <a:buFont typeface="Calibri"/>
              <a:buNone/>
            </a:pPr>
            <a:r>
              <a:rPr lang="pt-BR" sz="780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O que significa?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7" name="Google Shape;587;p45"/>
          <p:cNvCxnSpPr/>
          <p:nvPr/>
        </p:nvCxnSpPr>
        <p:spPr>
          <a:xfrm>
            <a:off x="648378" y="2660322"/>
            <a:ext cx="2051700" cy="0"/>
          </a:xfrm>
          <a:prstGeom prst="straightConnector1">
            <a:avLst/>
          </a:prstGeom>
          <a:noFill/>
          <a:ln cap="flat" cmpd="sng" w="89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p45"/>
          <p:cNvSpPr txBox="1"/>
          <p:nvPr/>
        </p:nvSpPr>
        <p:spPr>
          <a:xfrm>
            <a:off x="608138" y="2757525"/>
            <a:ext cx="21330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00" lIns="48600" spcFirstLastPara="1" rIns="48600" wrap="square" tIns="243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638"/>
              <a:buFont typeface="Calibri"/>
              <a:buNone/>
            </a:pPr>
            <a:r>
              <a:rPr lang="pt-BR" sz="1161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Capacidade da comunidade de pesquisadores de manter sua coesão diante a perda de elementos</a:t>
            </a:r>
            <a:endParaRPr b="0" i="0" sz="1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5"/>
          <p:cNvSpPr txBox="1"/>
          <p:nvPr/>
        </p:nvSpPr>
        <p:spPr>
          <a:xfrm>
            <a:off x="608138" y="3695322"/>
            <a:ext cx="21330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00" lIns="48600" spcFirstLastPara="1" rIns="48600" wrap="square" tIns="243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638"/>
              <a:buFont typeface="Calibri"/>
              <a:buNone/>
            </a:pPr>
            <a:r>
              <a:rPr i="1" lang="pt-BR" sz="880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A capacidade da rede de manter a sua conectividade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5"/>
          <p:cNvSpPr/>
          <p:nvPr/>
        </p:nvSpPr>
        <p:spPr>
          <a:xfrm>
            <a:off x="3264000" y="1761175"/>
            <a:ext cx="2616000" cy="2527500"/>
          </a:xfrm>
          <a:prstGeom prst="roundRect">
            <a:avLst>
              <a:gd fmla="val 246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48600" lIns="48600" spcFirstLastPara="1" rIns="48600" wrap="square" tIns="4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5"/>
          <p:cNvSpPr txBox="1"/>
          <p:nvPr/>
        </p:nvSpPr>
        <p:spPr>
          <a:xfrm>
            <a:off x="3264000" y="1882681"/>
            <a:ext cx="2616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00" lIns="48600" spcFirstLastPara="1" rIns="48600" wrap="square" tIns="2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126"/>
              <a:buFont typeface="Cambria"/>
              <a:buNone/>
            </a:pPr>
            <a:r>
              <a:rPr b="1" lang="pt-BR" sz="2126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Critérios de Falha</a:t>
            </a:r>
            <a:endParaRPr b="0" i="0" sz="21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5"/>
          <p:cNvSpPr txBox="1"/>
          <p:nvPr/>
        </p:nvSpPr>
        <p:spPr>
          <a:xfrm>
            <a:off x="3264000" y="2353433"/>
            <a:ext cx="2616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00" lIns="48600" spcFirstLastPara="1" rIns="48600" wrap="square" tIns="2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638"/>
              <a:buFont typeface="Calibri"/>
              <a:buNone/>
            </a:pPr>
            <a:r>
              <a:rPr lang="pt-BR" sz="780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Quais são?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3" name="Google Shape;593;p45"/>
          <p:cNvCxnSpPr/>
          <p:nvPr/>
        </p:nvCxnSpPr>
        <p:spPr>
          <a:xfrm>
            <a:off x="3545684" y="2660322"/>
            <a:ext cx="2051700" cy="0"/>
          </a:xfrm>
          <a:prstGeom prst="straightConnector1">
            <a:avLst/>
          </a:prstGeom>
          <a:noFill/>
          <a:ln cap="flat" cmpd="sng" w="89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45"/>
          <p:cNvSpPr txBox="1"/>
          <p:nvPr/>
        </p:nvSpPr>
        <p:spPr>
          <a:xfrm>
            <a:off x="3505438" y="2757524"/>
            <a:ext cx="21330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00" lIns="48600" spcFirstLastPara="1" rIns="48600" wrap="square" tIns="243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638"/>
              <a:buFont typeface="Calibri"/>
              <a:buNone/>
            </a:pPr>
            <a:r>
              <a:rPr lang="pt-BR" sz="1161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Perda significativa da coesão entre os pesquisadores</a:t>
            </a:r>
            <a:endParaRPr b="0" i="0" sz="1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5"/>
          <p:cNvSpPr txBox="1"/>
          <p:nvPr/>
        </p:nvSpPr>
        <p:spPr>
          <a:xfrm>
            <a:off x="3505438" y="3695373"/>
            <a:ext cx="21330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00" lIns="48600" spcFirstLastPara="1" rIns="48600" wrap="square" tIns="243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638"/>
              <a:buFont typeface="Calibri"/>
              <a:buNone/>
            </a:pPr>
            <a:r>
              <a:rPr i="1" lang="pt-BR" sz="880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Quando ocorre uma fragmentação acentuada da rede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5"/>
          <p:cNvSpPr/>
          <p:nvPr/>
        </p:nvSpPr>
        <p:spPr>
          <a:xfrm>
            <a:off x="6161300" y="1761175"/>
            <a:ext cx="2616000" cy="2527500"/>
          </a:xfrm>
          <a:prstGeom prst="roundRect">
            <a:avLst>
              <a:gd fmla="val 2462" name="adj"/>
            </a:avLst>
          </a:prstGeom>
          <a:solidFill>
            <a:srgbClr val="EAF2F1"/>
          </a:solidFill>
          <a:ln>
            <a:noFill/>
          </a:ln>
        </p:spPr>
        <p:txBody>
          <a:bodyPr anchorCtr="0" anchor="ctr" bIns="48600" lIns="48600" spcFirstLastPara="1" rIns="48600" wrap="square" tIns="4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5"/>
          <p:cNvSpPr txBox="1"/>
          <p:nvPr/>
        </p:nvSpPr>
        <p:spPr>
          <a:xfrm>
            <a:off x="6160825" y="1761175"/>
            <a:ext cx="2616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00" lIns="48600" spcFirstLastPara="1" rIns="48600" wrap="square" tIns="2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2126"/>
              <a:buFont typeface="Cambria"/>
              <a:buNone/>
            </a:pPr>
            <a:r>
              <a:rPr b="1" lang="pt-BR" sz="2126">
                <a:solidFill>
                  <a:srgbClr val="12464B"/>
                </a:solidFill>
                <a:latin typeface="Cambria"/>
                <a:ea typeface="Cambria"/>
                <a:cs typeface="Cambria"/>
                <a:sym typeface="Cambria"/>
              </a:rPr>
              <a:t>Unidade de Perturbação</a:t>
            </a:r>
            <a:endParaRPr b="0" i="0" sz="21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5"/>
          <p:cNvSpPr txBox="1"/>
          <p:nvPr/>
        </p:nvSpPr>
        <p:spPr>
          <a:xfrm>
            <a:off x="6161300" y="2353433"/>
            <a:ext cx="2616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00" lIns="48600" spcFirstLastPara="1" rIns="48600" wrap="square" tIns="2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638"/>
              <a:buFont typeface="Calibri"/>
              <a:buNone/>
            </a:pPr>
            <a:r>
              <a:rPr lang="pt-BR" sz="780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O que é?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9" name="Google Shape;599;p45"/>
          <p:cNvCxnSpPr/>
          <p:nvPr/>
        </p:nvCxnSpPr>
        <p:spPr>
          <a:xfrm>
            <a:off x="6442984" y="2660322"/>
            <a:ext cx="2051700" cy="0"/>
          </a:xfrm>
          <a:prstGeom prst="straightConnector1">
            <a:avLst/>
          </a:prstGeom>
          <a:noFill/>
          <a:ln cap="flat" cmpd="sng" w="89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p45"/>
          <p:cNvSpPr txBox="1"/>
          <p:nvPr/>
        </p:nvSpPr>
        <p:spPr>
          <a:xfrm>
            <a:off x="6402738" y="2757524"/>
            <a:ext cx="21330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00" lIns="48600" spcFirstLastPara="1" rIns="48600" wrap="square" tIns="243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638"/>
              <a:buFont typeface="Calibri"/>
              <a:buNone/>
            </a:pPr>
            <a:r>
              <a:rPr lang="pt-BR" sz="1161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Elemento da rede a ser alvo dos ataques (pesquisadores)</a:t>
            </a:r>
            <a:endParaRPr b="0" i="0" sz="1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5"/>
          <p:cNvSpPr txBox="1"/>
          <p:nvPr/>
        </p:nvSpPr>
        <p:spPr>
          <a:xfrm>
            <a:off x="6402738" y="3695373"/>
            <a:ext cx="21330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00" lIns="48600" spcFirstLastPara="1" rIns="48600" wrap="square" tIns="243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638"/>
              <a:buFont typeface="Calibri"/>
              <a:buNone/>
            </a:pPr>
            <a:r>
              <a:rPr i="1" lang="pt-BR" sz="880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Configura os nós da rede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5"/>
          <p:cNvSpPr/>
          <p:nvPr/>
        </p:nvSpPr>
        <p:spPr>
          <a:xfrm>
            <a:off x="377190" y="534924"/>
            <a:ext cx="8298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900"/>
              <a:buFont typeface="Georgia"/>
              <a:buNone/>
            </a:pPr>
            <a:r>
              <a:rPr b="1" lang="pt-BR" sz="2300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Objetivo e Definições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6"/>
          <p:cNvSpPr/>
          <p:nvPr/>
        </p:nvSpPr>
        <p:spPr>
          <a:xfrm>
            <a:off x="377190" y="534924"/>
            <a:ext cx="8298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900"/>
              <a:buFont typeface="Georgia"/>
              <a:buNone/>
            </a:pPr>
            <a:r>
              <a:rPr b="1" lang="pt-BR" sz="2300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Como foi a metodologia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377190" y="994410"/>
            <a:ext cx="5486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174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rPr>
              <a:t>A mesma rede é submetida a dois cenários de remoção de pesquisadores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p46"/>
          <p:cNvCxnSpPr/>
          <p:nvPr/>
        </p:nvCxnSpPr>
        <p:spPr>
          <a:xfrm>
            <a:off x="3600450" y="1385316"/>
            <a:ext cx="6900" cy="0"/>
          </a:xfrm>
          <a:prstGeom prst="straightConnector1">
            <a:avLst/>
          </a:prstGeom>
          <a:noFill/>
          <a:ln cap="flat" cmpd="sng" w="952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1" name="Google Shape;611;p46"/>
          <p:cNvSpPr/>
          <p:nvPr/>
        </p:nvSpPr>
        <p:spPr>
          <a:xfrm>
            <a:off x="532612" y="1364838"/>
            <a:ext cx="3669000" cy="1563600"/>
          </a:xfrm>
          <a:prstGeom prst="roundRect">
            <a:avLst>
              <a:gd fmla="val 3509" name="adj"/>
            </a:avLst>
          </a:prstGeom>
          <a:solidFill>
            <a:srgbClr val="EAF2F1"/>
          </a:solidFill>
          <a:ln cap="flat" cmpd="sng" w="9525">
            <a:solidFill>
              <a:srgbClr val="EA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6"/>
          <p:cNvSpPr/>
          <p:nvPr/>
        </p:nvSpPr>
        <p:spPr>
          <a:xfrm>
            <a:off x="814837" y="1451125"/>
            <a:ext cx="325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Georgia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01 · Remoção </a:t>
            </a:r>
            <a:r>
              <a:rPr b="1" lang="pt-BR" sz="1500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i="0" lang="pt-BR" sz="15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leatória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6"/>
          <p:cNvSpPr/>
          <p:nvPr/>
        </p:nvSpPr>
        <p:spPr>
          <a:xfrm>
            <a:off x="805116" y="1855038"/>
            <a:ext cx="3250800" cy="10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lang="pt-BR" sz="1100">
                <a:solidFill>
                  <a:srgbClr val="1D2B2C"/>
                </a:solidFill>
              </a:rPr>
              <a:t>Simula perdas não sistemáticas de pesquisadores da comunidade</a:t>
            </a:r>
            <a:endParaRPr sz="1100">
              <a:solidFill>
                <a:srgbClr val="1D2B2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t/>
            </a:r>
            <a:endParaRPr sz="1100">
              <a:solidFill>
                <a:srgbClr val="1D2B2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lang="pt-BR" sz="1100">
                <a:solidFill>
                  <a:srgbClr val="1D2B2C"/>
                </a:solidFill>
              </a:rPr>
              <a:t>Remove nós aleatoriamente da rede. Foram feitas 30 execuções com sementes distintas para obtenção da média</a:t>
            </a:r>
            <a:endParaRPr sz="1100">
              <a:solidFill>
                <a:srgbClr val="1D2B2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t/>
            </a:r>
            <a:endParaRPr sz="1100">
              <a:solidFill>
                <a:srgbClr val="1D2B2C"/>
              </a:solidFill>
            </a:endParaRPr>
          </a:p>
        </p:txBody>
      </p:sp>
      <p:sp>
        <p:nvSpPr>
          <p:cNvPr id="614" name="Google Shape;614;p46"/>
          <p:cNvSpPr/>
          <p:nvPr/>
        </p:nvSpPr>
        <p:spPr>
          <a:xfrm>
            <a:off x="4942383" y="1364838"/>
            <a:ext cx="3669000" cy="1563600"/>
          </a:xfrm>
          <a:prstGeom prst="roundRect">
            <a:avLst>
              <a:gd fmla="val 3509" name="adj"/>
            </a:avLst>
          </a:prstGeom>
          <a:solidFill>
            <a:srgbClr val="EAF2F1"/>
          </a:solidFill>
          <a:ln cap="flat" cmpd="sng" w="9525">
            <a:solidFill>
              <a:srgbClr val="EA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6"/>
          <p:cNvSpPr/>
          <p:nvPr/>
        </p:nvSpPr>
        <p:spPr>
          <a:xfrm>
            <a:off x="377200" y="3175249"/>
            <a:ext cx="8387400" cy="1240800"/>
          </a:xfrm>
          <a:prstGeom prst="roundRect">
            <a:avLst>
              <a:gd fmla="val 3871" name="adj"/>
            </a:avLst>
          </a:prstGeom>
          <a:solidFill>
            <a:srgbClr val="F6F8F8"/>
          </a:solidFill>
          <a:ln cap="flat" cmpd="sng" w="952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46"/>
          <p:cNvSpPr/>
          <p:nvPr/>
        </p:nvSpPr>
        <p:spPr>
          <a:xfrm>
            <a:off x="575975" y="3663400"/>
            <a:ext cx="40632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200"/>
              <a:buFont typeface="Georgia"/>
              <a:buNone/>
            </a:pPr>
            <a:r>
              <a:rPr b="1" i="0" lang="pt-BR" sz="1300" u="none" cap="none" strike="noStrike">
                <a:solidFill>
                  <a:srgbClr val="911EB4"/>
                </a:solidFill>
                <a:latin typeface="Georgia"/>
                <a:ea typeface="Georgia"/>
                <a:cs typeface="Georgia"/>
                <a:sym typeface="Georgia"/>
              </a:rPr>
              <a:t>S(f) = tamanho relativo do componente gigante</a:t>
            </a:r>
            <a:endParaRPr b="0" i="0" sz="1300" u="none" cap="none" strike="noStrike">
              <a:solidFill>
                <a:srgbClr val="911EB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6"/>
          <p:cNvSpPr/>
          <p:nvPr/>
        </p:nvSpPr>
        <p:spPr>
          <a:xfrm>
            <a:off x="5590125" y="3263200"/>
            <a:ext cx="115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800"/>
              <a:buFont typeface="Arial"/>
              <a:buNone/>
            </a:pPr>
            <a:r>
              <a:rPr b="1" i="0" lang="pt-BR" sz="1000" u="none" cap="none" strike="noStrike">
                <a:solidFill>
                  <a:srgbClr val="12464B"/>
                </a:solidFill>
                <a:latin typeface="Arial"/>
                <a:ea typeface="Arial"/>
                <a:cs typeface="Arial"/>
                <a:sym typeface="Arial"/>
              </a:rPr>
              <a:t>Complementares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6"/>
          <p:cNvSpPr/>
          <p:nvPr/>
        </p:nvSpPr>
        <p:spPr>
          <a:xfrm>
            <a:off x="5590125" y="3610400"/>
            <a:ext cx="3021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1D2B2C"/>
                </a:solidFill>
                <a:latin typeface="Arial"/>
                <a:ea typeface="Arial"/>
                <a:cs typeface="Arial"/>
                <a:sym typeface="Arial"/>
              </a:rPr>
              <a:t>nº de componentes + distância média no maior componente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/>
          <p:nvPr/>
        </p:nvSpPr>
        <p:spPr>
          <a:xfrm>
            <a:off x="576072" y="4138534"/>
            <a:ext cx="41835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174"/>
              </a:buClr>
              <a:buSzPts val="800"/>
              <a:buFont typeface="Arial"/>
              <a:buNone/>
            </a:pPr>
            <a:r>
              <a:rPr i="1" lang="pt-BR" sz="1000">
                <a:solidFill>
                  <a:srgbClr val="607174"/>
                </a:solidFill>
              </a:rPr>
              <a:t>Valores menores de S indicam maior fragmentação da rede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6"/>
          <p:cNvSpPr txBox="1"/>
          <p:nvPr>
            <p:ph idx="12" type="sldNum"/>
          </p:nvPr>
        </p:nvSpPr>
        <p:spPr>
          <a:xfrm>
            <a:off x="8627364" y="495833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607174"/>
                </a:solidFill>
              </a:rPr>
              <a:t>29</a:t>
            </a:r>
            <a:endParaRPr b="0" i="0" sz="600" u="none" cap="none" strike="noStrike">
              <a:solidFill>
                <a:srgbClr val="6071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6"/>
          <p:cNvSpPr/>
          <p:nvPr/>
        </p:nvSpPr>
        <p:spPr>
          <a:xfrm>
            <a:off x="5151487" y="1451125"/>
            <a:ext cx="325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Georgia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b="1" lang="pt-BR" sz="1500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b="1" i="0" lang="pt-BR" sz="15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 · Remoção </a:t>
            </a:r>
            <a:r>
              <a:rPr b="1" lang="pt-BR" sz="1500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por Grau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6"/>
          <p:cNvSpPr/>
          <p:nvPr/>
        </p:nvSpPr>
        <p:spPr>
          <a:xfrm>
            <a:off x="5151466" y="1855038"/>
            <a:ext cx="3250800" cy="10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lang="pt-BR" sz="1100">
                <a:solidFill>
                  <a:srgbClr val="1D2B2C"/>
                </a:solidFill>
              </a:rPr>
              <a:t>Simula perdas direcionadas dos pesquisadores mais influentes da comunidade</a:t>
            </a:r>
            <a:endParaRPr sz="1100">
              <a:solidFill>
                <a:srgbClr val="1D2B2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t/>
            </a:r>
            <a:endParaRPr sz="1100">
              <a:solidFill>
                <a:srgbClr val="1D2B2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lang="pt-BR" sz="1100">
                <a:solidFill>
                  <a:srgbClr val="1D2B2C"/>
                </a:solidFill>
              </a:rPr>
              <a:t>Remove o nó de maior grau da rede, com recálculo adaptativo a cada passo</a:t>
            </a:r>
            <a:endParaRPr sz="1100">
              <a:solidFill>
                <a:srgbClr val="1D2B2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t/>
            </a:r>
            <a:endParaRPr sz="1100">
              <a:solidFill>
                <a:srgbClr val="1D2B2C"/>
              </a:solidFill>
            </a:endParaRPr>
          </a:p>
        </p:txBody>
      </p:sp>
      <p:sp>
        <p:nvSpPr>
          <p:cNvPr id="623" name="Google Shape;623;p46"/>
          <p:cNvSpPr/>
          <p:nvPr/>
        </p:nvSpPr>
        <p:spPr>
          <a:xfrm>
            <a:off x="575975" y="3263200"/>
            <a:ext cx="325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Georgia"/>
              <a:buNone/>
            </a:pPr>
            <a:r>
              <a:rPr b="1" lang="pt-BR" sz="1500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Métrica Principal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6"/>
          <p:cNvSpPr txBox="1"/>
          <p:nvPr/>
        </p:nvSpPr>
        <p:spPr>
          <a:xfrm>
            <a:off x="411480" y="288036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lang="pt-BR" sz="900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ROBUSTEZ E RESILIÊNCIA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7"/>
          <p:cNvSpPr/>
          <p:nvPr/>
        </p:nvSpPr>
        <p:spPr>
          <a:xfrm>
            <a:off x="377200" y="585352"/>
            <a:ext cx="8298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900"/>
              <a:buFont typeface="Georg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Resultado principal</a:t>
            </a:r>
            <a:r>
              <a:rPr b="1" i="0" lang="pt-BR" sz="23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: a vulnerabilidade está concentrada nos hubs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7"/>
          <p:cNvSpPr/>
          <p:nvPr/>
        </p:nvSpPr>
        <p:spPr>
          <a:xfrm>
            <a:off x="377190" y="1231907"/>
            <a:ext cx="7955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174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rPr>
              <a:t>Falhas aleatórias degradam a conectividade gradualmente; ataques por grau provocam colapso precoce.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t4_robustez_chart.png" id="632" name="Google Shape;63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" y="1478965"/>
            <a:ext cx="5486400" cy="305181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6089904" y="1478965"/>
            <a:ext cx="2674500" cy="809400"/>
          </a:xfrm>
          <a:prstGeom prst="roundRect">
            <a:avLst>
              <a:gd fmla="val 6780" name="adj"/>
            </a:avLst>
          </a:prstGeom>
          <a:solidFill>
            <a:srgbClr val="EAF2F1"/>
          </a:solidFill>
          <a:ln cap="flat" cmpd="sng" w="9525">
            <a:solidFill>
              <a:srgbClr val="EA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/>
          <p:nvPr/>
        </p:nvSpPr>
        <p:spPr>
          <a:xfrm>
            <a:off x="6281928" y="1650415"/>
            <a:ext cx="2290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Georg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ALEATÓRIA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7"/>
          <p:cNvSpPr/>
          <p:nvPr/>
        </p:nvSpPr>
        <p:spPr>
          <a:xfrm>
            <a:off x="6281928" y="1945309"/>
            <a:ext cx="2290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1D2B2C"/>
                </a:solidFill>
              </a:rPr>
              <a:t>Redução gradual e pouco intensa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7"/>
          <p:cNvSpPr/>
          <p:nvPr/>
        </p:nvSpPr>
        <p:spPr>
          <a:xfrm>
            <a:off x="6089904" y="2425369"/>
            <a:ext cx="2674500" cy="1001400"/>
          </a:xfrm>
          <a:prstGeom prst="roundRect">
            <a:avLst>
              <a:gd fmla="val 5479" name="adj"/>
            </a:avLst>
          </a:prstGeom>
          <a:solidFill>
            <a:srgbClr val="EAF2F1"/>
          </a:solidFill>
          <a:ln cap="flat" cmpd="sng" w="9525">
            <a:solidFill>
              <a:srgbClr val="EA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7"/>
          <p:cNvSpPr/>
          <p:nvPr/>
        </p:nvSpPr>
        <p:spPr>
          <a:xfrm>
            <a:off x="6281928" y="2596819"/>
            <a:ext cx="2290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1100"/>
              <a:buFont typeface="Georgia"/>
              <a:buNone/>
            </a:pPr>
            <a:r>
              <a:rPr b="1" i="0" lang="pt-BR" sz="1300" u="none" cap="none" strike="noStrike">
                <a:solidFill>
                  <a:srgbClr val="911EB4"/>
                </a:solidFill>
                <a:latin typeface="Georgia"/>
                <a:ea typeface="Georgia"/>
                <a:cs typeface="Georgia"/>
                <a:sym typeface="Georgia"/>
              </a:rPr>
              <a:t>POR GRAU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7"/>
          <p:cNvSpPr/>
          <p:nvPr/>
        </p:nvSpPr>
        <p:spPr>
          <a:xfrm>
            <a:off x="6281928" y="2891713"/>
            <a:ext cx="2290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1D2B2C"/>
                </a:solidFill>
              </a:rPr>
              <a:t>Redução brusca com poucas remoções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7"/>
          <p:cNvSpPr/>
          <p:nvPr/>
        </p:nvSpPr>
        <p:spPr>
          <a:xfrm>
            <a:off x="6089904" y="3536365"/>
            <a:ext cx="2674500" cy="809400"/>
          </a:xfrm>
          <a:prstGeom prst="roundRect">
            <a:avLst>
              <a:gd fmla="val 6780" name="adj"/>
            </a:avLst>
          </a:prstGeom>
          <a:solidFill>
            <a:srgbClr val="EAF2F1"/>
          </a:solidFill>
          <a:ln cap="flat" cmpd="sng" w="9525">
            <a:solidFill>
              <a:srgbClr val="EA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7"/>
          <p:cNvSpPr/>
          <p:nvPr/>
        </p:nvSpPr>
        <p:spPr>
          <a:xfrm>
            <a:off x="6281928" y="3707815"/>
            <a:ext cx="2290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4949"/>
              </a:buClr>
              <a:buSzPts val="1100"/>
              <a:buFont typeface="Georgia"/>
              <a:buNone/>
            </a:pPr>
            <a:r>
              <a:rPr b="1" i="0" lang="pt-BR" sz="1300" u="none" cap="none" strike="noStrike">
                <a:solidFill>
                  <a:srgbClr val="B64949"/>
                </a:solidFill>
                <a:latin typeface="Georgia"/>
                <a:ea typeface="Georgia"/>
                <a:cs typeface="Georgia"/>
                <a:sym typeface="Georgia"/>
              </a:rPr>
              <a:t>COLAPSO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7"/>
          <p:cNvSpPr/>
          <p:nvPr/>
        </p:nvSpPr>
        <p:spPr>
          <a:xfrm>
            <a:off x="6281900" y="3952269"/>
            <a:ext cx="22905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b="0" i="0" lang="pt-BR" sz="1000" u="none" cap="none" strike="noStrike">
                <a:solidFill>
                  <a:srgbClr val="1D2B2C"/>
                </a:solidFill>
                <a:latin typeface="Arial"/>
                <a:ea typeface="Arial"/>
                <a:cs typeface="Arial"/>
                <a:sym typeface="Arial"/>
              </a:rPr>
              <a:t>~95,5% de queda de 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b="0" i="0" lang="pt-BR" sz="1000" u="none" cap="none" strike="noStrike">
                <a:solidFill>
                  <a:srgbClr val="1D2B2C"/>
                </a:solidFill>
                <a:latin typeface="Arial"/>
                <a:ea typeface="Arial"/>
                <a:cs typeface="Arial"/>
                <a:sym typeface="Arial"/>
              </a:rPr>
              <a:t>com apenas 10% removidos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7"/>
          <p:cNvSpPr txBox="1"/>
          <p:nvPr>
            <p:ph idx="12" type="sldNum"/>
          </p:nvPr>
        </p:nvSpPr>
        <p:spPr>
          <a:xfrm>
            <a:off x="8627364" y="495833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607174"/>
                </a:solidFill>
              </a:rPr>
              <a:t>30</a:t>
            </a:r>
            <a:endParaRPr b="0" i="0" sz="600" u="none" cap="none" strike="noStrike">
              <a:solidFill>
                <a:srgbClr val="6071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7"/>
          <p:cNvSpPr txBox="1"/>
          <p:nvPr/>
        </p:nvSpPr>
        <p:spPr>
          <a:xfrm>
            <a:off x="411480" y="288036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lang="pt-BR" sz="900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ROBUSTEZ E RESILIÊNCIA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8"/>
          <p:cNvSpPr txBox="1"/>
          <p:nvPr/>
        </p:nvSpPr>
        <p:spPr>
          <a:xfrm>
            <a:off x="411480" y="480060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8"/>
          <p:cNvSpPr txBox="1"/>
          <p:nvPr/>
        </p:nvSpPr>
        <p:spPr>
          <a:xfrm>
            <a:off x="8524494" y="4800600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E70"/>
              </a:buClr>
              <a:buSzPts val="800"/>
              <a:buFont typeface="Calibri"/>
              <a:buNone/>
            </a:pPr>
            <a:r>
              <a:rPr lang="pt-BR" sz="800">
                <a:solidFill>
                  <a:srgbClr val="5B6E70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8"/>
          <p:cNvSpPr txBox="1"/>
          <p:nvPr/>
        </p:nvSpPr>
        <p:spPr>
          <a:xfrm>
            <a:off x="594255" y="1240975"/>
            <a:ext cx="372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Remoção Aleatória</a:t>
            </a:r>
            <a:endParaRPr b="1" sz="1500">
              <a:solidFill>
                <a:srgbClr val="12464B"/>
              </a:solidFill>
            </a:endParaRPr>
          </a:p>
        </p:txBody>
      </p:sp>
      <p:graphicFrame>
        <p:nvGraphicFramePr>
          <p:cNvPr id="651" name="Google Shape;651;p48"/>
          <p:cNvGraphicFramePr/>
          <p:nvPr/>
        </p:nvGraphicFramePr>
        <p:xfrm>
          <a:off x="594330" y="1564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{E34F0935-2E90-4214-B168-EA6355FC9C7A}</a:tableStyleId>
              </a:tblPr>
              <a:tblGrid>
                <a:gridCol w="887250"/>
                <a:gridCol w="887250"/>
                <a:gridCol w="887250"/>
                <a:gridCol w="10647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médio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pt-BR" sz="1000">
                          <a:solidFill>
                            <a:schemeClr val="lt1"/>
                          </a:solidFill>
                        </a:rPr>
                        <a:t>º médio de componentes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Distância média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0,7585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496,0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,10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0,6605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516,9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4,96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</a:t>
                      </a: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0,5620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541,3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5,09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</a:t>
                      </a: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0,4661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560,1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5,17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0,3699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575,7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5,47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0,70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0,107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530,96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5,95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0,0063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297,23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5,65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52" name="Google Shape;652;p48"/>
          <p:cNvSpPr txBox="1"/>
          <p:nvPr/>
        </p:nvSpPr>
        <p:spPr>
          <a:xfrm>
            <a:off x="411480" y="288036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lang="pt-BR" sz="900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ROBUSTEZ E RESILIÊNCIA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8"/>
          <p:cNvSpPr txBox="1"/>
          <p:nvPr/>
        </p:nvSpPr>
        <p:spPr>
          <a:xfrm>
            <a:off x="4823130" y="1240975"/>
            <a:ext cx="372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Remoção por Grau</a:t>
            </a:r>
            <a:endParaRPr b="1" sz="1500">
              <a:solidFill>
                <a:srgbClr val="12464B"/>
              </a:solidFill>
            </a:endParaRPr>
          </a:p>
        </p:txBody>
      </p:sp>
      <p:graphicFrame>
        <p:nvGraphicFramePr>
          <p:cNvPr id="654" name="Google Shape;654;p48"/>
          <p:cNvGraphicFramePr/>
          <p:nvPr/>
        </p:nvGraphicFramePr>
        <p:xfrm>
          <a:off x="4823205" y="1564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{E34F0935-2E90-4214-B168-EA6355FC9C7A}</a:tableStyleId>
              </a:tblPr>
              <a:tblGrid>
                <a:gridCol w="887250"/>
                <a:gridCol w="887250"/>
                <a:gridCol w="887250"/>
                <a:gridCol w="10647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pt-BR" sz="1000">
                          <a:solidFill>
                            <a:schemeClr val="lt1"/>
                          </a:solidFill>
                        </a:rPr>
                        <a:t>º de componentes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Distância média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12464B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</a:t>
                      </a: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0,7585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5,04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</a:t>
                      </a: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0,0338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1399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</a:t>
                      </a: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0,0023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1846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2,61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000" u="none" cap="none" strike="noStrike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0,0010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2035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1,67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0,0005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2042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/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0,70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0,0002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1181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EAF2F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0,0002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393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1D2B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 sz="1000">
                        <a:solidFill>
                          <a:srgbClr val="1D2B2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000" marB="18000" marR="45725" marL="4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5" name="Google Shape;655;p48"/>
          <p:cNvSpPr/>
          <p:nvPr/>
        </p:nvSpPr>
        <p:spPr>
          <a:xfrm>
            <a:off x="377190" y="534924"/>
            <a:ext cx="8298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900"/>
              <a:buFont typeface="Georgia"/>
              <a:buNone/>
            </a:pPr>
            <a:r>
              <a:rPr b="1" lang="pt-BR" sz="2300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lang="pt-BR" sz="2300">
                <a:solidFill>
                  <a:srgbClr val="12464B"/>
                </a:solidFill>
              </a:rPr>
              <a:t>º</a:t>
            </a:r>
            <a:r>
              <a:rPr b="1" lang="pt-BR" sz="2300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 de Componentes e Distância Média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1" name="Google Shape;661;p49"/>
          <p:cNvCxnSpPr/>
          <p:nvPr/>
        </p:nvCxnSpPr>
        <p:spPr>
          <a:xfrm>
            <a:off x="4011930" y="1042416"/>
            <a:ext cx="6900" cy="0"/>
          </a:xfrm>
          <a:prstGeom prst="straightConnector1">
            <a:avLst/>
          </a:prstGeom>
          <a:noFill/>
          <a:ln cap="flat" cmpd="sng" w="952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2" name="Google Shape;662;p49"/>
          <p:cNvSpPr/>
          <p:nvPr/>
        </p:nvSpPr>
        <p:spPr>
          <a:xfrm>
            <a:off x="0" y="1214975"/>
            <a:ext cx="4494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400"/>
              <a:buFont typeface="Georgia"/>
              <a:buNone/>
            </a:pPr>
            <a:r>
              <a:rPr b="1" i="0" lang="pt-BR" sz="16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⟨k²⟩ / ⟨k⟩ ≈ 18,6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9"/>
          <p:cNvSpPr txBox="1"/>
          <p:nvPr>
            <p:ph idx="12" type="sldNum"/>
          </p:nvPr>
        </p:nvSpPr>
        <p:spPr>
          <a:xfrm>
            <a:off x="8627364" y="495833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607174"/>
                </a:solidFill>
              </a:rPr>
              <a:t>32</a:t>
            </a:r>
            <a:endParaRPr b="0" i="0" sz="600" u="none" cap="none" strike="noStrike">
              <a:solidFill>
                <a:srgbClr val="6071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9"/>
          <p:cNvSpPr txBox="1"/>
          <p:nvPr/>
        </p:nvSpPr>
        <p:spPr>
          <a:xfrm>
            <a:off x="411480" y="288036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lang="pt-BR" sz="900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ROBUSTEZ E RESILIÊNCIA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9"/>
          <p:cNvSpPr txBox="1"/>
          <p:nvPr/>
        </p:nvSpPr>
        <p:spPr>
          <a:xfrm>
            <a:off x="411475" y="514350"/>
            <a:ext cx="79554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900"/>
              <a:buFont typeface="Georgia"/>
              <a:buNone/>
            </a:pPr>
            <a:r>
              <a:rPr b="1" lang="pt-BR" sz="2300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Critério de Molloy-Reed</a:t>
            </a:r>
            <a:endParaRPr b="1" sz="2300">
              <a:solidFill>
                <a:srgbClr val="12464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6" name="Google Shape;666;p49"/>
          <p:cNvSpPr/>
          <p:nvPr/>
        </p:nvSpPr>
        <p:spPr>
          <a:xfrm>
            <a:off x="4494900" y="1164725"/>
            <a:ext cx="46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2000"/>
              <a:buFont typeface="Georgia"/>
              <a:buNone/>
            </a:pPr>
            <a:r>
              <a:rPr b="1" i="0" lang="pt-BR" sz="1600" u="none" cap="none" strike="noStrike">
                <a:solidFill>
                  <a:srgbClr val="911EB4"/>
                </a:solidFill>
                <a:latin typeface="Georgia"/>
                <a:ea typeface="Georgia"/>
                <a:cs typeface="Georgia"/>
                <a:sym typeface="Georgia"/>
              </a:rPr>
              <a:t>f_c teórico ≈ 0,943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9"/>
          <p:cNvSpPr txBox="1"/>
          <p:nvPr/>
        </p:nvSpPr>
        <p:spPr>
          <a:xfrm>
            <a:off x="331375" y="1634425"/>
            <a:ext cx="39549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libri"/>
              <a:buNone/>
            </a:pPr>
            <a:r>
              <a:rPr b="1" lang="pt-BR" sz="1500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Heterogeneidade</a:t>
            </a: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pt-BR" sz="1500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O valor elevado da divisão demonstra a concentração de muitas conexões em poucos nós (hubs), condizente com os dados empíricos</a:t>
            </a:r>
            <a:endParaRPr sz="1500">
              <a:solidFill>
                <a:srgbClr val="1D2B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9"/>
          <p:cNvSpPr txBox="1"/>
          <p:nvPr/>
        </p:nvSpPr>
        <p:spPr>
          <a:xfrm>
            <a:off x="4689650" y="1634425"/>
            <a:ext cx="40701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Calibri"/>
              <a:buNone/>
            </a:pPr>
            <a:r>
              <a:rPr b="1" lang="pt-BR" sz="1500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Limiar </a:t>
            </a:r>
            <a:r>
              <a:rPr b="1" lang="pt-BR" sz="1500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Teórico</a:t>
            </a:r>
            <a:r>
              <a:rPr b="1" i="0" lang="pt-BR" sz="1500" u="none" cap="none" strike="noStrike">
                <a:solidFill>
                  <a:srgbClr val="12464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pt-BR" sz="1500">
                <a:solidFill>
                  <a:srgbClr val="1D2B2C"/>
                </a:solidFill>
                <a:latin typeface="Calibri"/>
                <a:ea typeface="Calibri"/>
                <a:cs typeface="Calibri"/>
                <a:sym typeface="Calibri"/>
              </a:rPr>
              <a:t>Assume um valor alto para o limiar crítico de percolação, mas diverge do resultado obtido pelos testes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9"/>
          <p:cNvSpPr/>
          <p:nvPr/>
        </p:nvSpPr>
        <p:spPr>
          <a:xfrm>
            <a:off x="5166150" y="2604150"/>
            <a:ext cx="3306600" cy="1444800"/>
          </a:xfrm>
          <a:prstGeom prst="roundRect">
            <a:avLst>
              <a:gd fmla="val 3797" name="adj"/>
            </a:avLst>
          </a:prstGeom>
          <a:solidFill>
            <a:srgbClr val="EAF2F1"/>
          </a:solidFill>
          <a:ln cap="flat" cmpd="sng" w="12700">
            <a:solidFill>
              <a:srgbClr val="EA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49"/>
          <p:cNvSpPr/>
          <p:nvPr/>
        </p:nvSpPr>
        <p:spPr>
          <a:xfrm>
            <a:off x="5312486" y="2887614"/>
            <a:ext cx="3007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1220"/>
              <a:buFont typeface="Arial"/>
              <a:buNone/>
            </a:pPr>
            <a:r>
              <a:rPr lang="pt-BR" sz="1220">
                <a:solidFill>
                  <a:srgbClr val="1D2B2C"/>
                </a:solidFill>
              </a:rPr>
              <a:t>Discrepância entre valor teórico e valor empírico provavelmente advém d</a:t>
            </a:r>
            <a:r>
              <a:rPr lang="pt-BR" sz="1220">
                <a:solidFill>
                  <a:srgbClr val="1D2B2C"/>
                </a:solidFill>
              </a:rPr>
              <a:t>o modelo de Holme-Kim</a:t>
            </a:r>
            <a:endParaRPr b="0" i="0" sz="1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0"/>
          <p:cNvSpPr/>
          <p:nvPr/>
        </p:nvSpPr>
        <p:spPr>
          <a:xfrm>
            <a:off x="377190" y="534924"/>
            <a:ext cx="8298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900"/>
              <a:buFont typeface="Georgia"/>
              <a:buNone/>
            </a:pPr>
            <a:r>
              <a:rPr b="1" i="0" lang="pt-BR" sz="23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Conclusão: onde está a vulnerabilidade?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0"/>
          <p:cNvSpPr/>
          <p:nvPr/>
        </p:nvSpPr>
        <p:spPr>
          <a:xfrm>
            <a:off x="377190" y="973836"/>
            <a:ext cx="809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174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607174"/>
                </a:solidFill>
                <a:latin typeface="Arial"/>
                <a:ea typeface="Arial"/>
                <a:cs typeface="Arial"/>
                <a:sym typeface="Arial"/>
              </a:rPr>
              <a:t>O risco estrutural está concentrado nos pesquisadores mais conectados; perdas aleatórias são muito menos destrutivas.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0"/>
          <p:cNvSpPr/>
          <p:nvPr/>
        </p:nvSpPr>
        <p:spPr>
          <a:xfrm>
            <a:off x="377190" y="1405890"/>
            <a:ext cx="2619600" cy="1405800"/>
          </a:xfrm>
          <a:prstGeom prst="roundRect">
            <a:avLst>
              <a:gd fmla="val 3902" name="adj"/>
            </a:avLst>
          </a:prstGeom>
          <a:solidFill>
            <a:srgbClr val="EAF2F1"/>
          </a:solidFill>
          <a:ln cap="flat" cmpd="sng" w="9525">
            <a:solidFill>
              <a:srgbClr val="EA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0"/>
          <p:cNvSpPr/>
          <p:nvPr/>
        </p:nvSpPr>
        <p:spPr>
          <a:xfrm>
            <a:off x="569214" y="1577340"/>
            <a:ext cx="2235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Georg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1 · ROBUSTEZ RELATIVA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0"/>
          <p:cNvSpPr/>
          <p:nvPr/>
        </p:nvSpPr>
        <p:spPr>
          <a:xfrm>
            <a:off x="569214" y="1872234"/>
            <a:ext cx="22356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b="0" i="0" lang="pt-BR" sz="1000" u="none" cap="none" strike="noStrike">
                <a:solidFill>
                  <a:srgbClr val="1D2B2C"/>
                </a:solidFill>
                <a:latin typeface="Arial"/>
                <a:ea typeface="Arial"/>
                <a:cs typeface="Arial"/>
                <a:sym typeface="Arial"/>
              </a:rPr>
              <a:t>Falhas aleatórias preservam parte relevante da conectividade mesmo sob 50% de remoção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0"/>
          <p:cNvSpPr/>
          <p:nvPr/>
        </p:nvSpPr>
        <p:spPr>
          <a:xfrm>
            <a:off x="3257550" y="1405890"/>
            <a:ext cx="2619600" cy="1405800"/>
          </a:xfrm>
          <a:prstGeom prst="roundRect">
            <a:avLst>
              <a:gd fmla="val 3902" name="adj"/>
            </a:avLst>
          </a:prstGeom>
          <a:solidFill>
            <a:srgbClr val="EAF2F1"/>
          </a:solidFill>
          <a:ln cap="flat" cmpd="sng" w="9525">
            <a:solidFill>
              <a:srgbClr val="EA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0"/>
          <p:cNvSpPr/>
          <p:nvPr/>
        </p:nvSpPr>
        <p:spPr>
          <a:xfrm>
            <a:off x="3449574" y="1577340"/>
            <a:ext cx="22356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1100"/>
              <a:buFont typeface="Georgia"/>
              <a:buNone/>
            </a:pPr>
            <a:r>
              <a:rPr b="1" i="0" lang="pt-BR" sz="1300" u="none" cap="none" strike="noStrike">
                <a:solidFill>
                  <a:srgbClr val="911EB4"/>
                </a:solidFill>
                <a:latin typeface="Georgia"/>
                <a:ea typeface="Georgia"/>
                <a:cs typeface="Georgia"/>
                <a:sym typeface="Georgia"/>
              </a:rPr>
              <a:t>2 · FRAGILIDADE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0"/>
          <p:cNvSpPr/>
          <p:nvPr/>
        </p:nvSpPr>
        <p:spPr>
          <a:xfrm>
            <a:off x="3449574" y="1872234"/>
            <a:ext cx="22356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b="0" i="0" lang="pt-BR" sz="1000" u="none" cap="none" strike="noStrike">
                <a:solidFill>
                  <a:srgbClr val="1D2B2C"/>
                </a:solidFill>
                <a:latin typeface="Arial"/>
                <a:ea typeface="Arial"/>
                <a:cs typeface="Arial"/>
                <a:sym typeface="Arial"/>
              </a:rPr>
              <a:t>Ataques por grau provocam fragmentação abrupta: S ≈ 0 a partir de ~20%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0"/>
          <p:cNvSpPr/>
          <p:nvPr/>
        </p:nvSpPr>
        <p:spPr>
          <a:xfrm>
            <a:off x="6137910" y="1405890"/>
            <a:ext cx="2626800" cy="1405800"/>
          </a:xfrm>
          <a:prstGeom prst="roundRect">
            <a:avLst>
              <a:gd fmla="val 3902" name="adj"/>
            </a:avLst>
          </a:prstGeom>
          <a:solidFill>
            <a:srgbClr val="EAF2F1"/>
          </a:solidFill>
          <a:ln cap="flat" cmpd="sng" w="9525">
            <a:solidFill>
              <a:srgbClr val="EA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0"/>
          <p:cNvSpPr/>
          <p:nvPr/>
        </p:nvSpPr>
        <p:spPr>
          <a:xfrm>
            <a:off x="6329934" y="1577340"/>
            <a:ext cx="2242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100"/>
              <a:buFont typeface="Georgia"/>
              <a:buNone/>
            </a:pPr>
            <a:r>
              <a:rPr b="1" i="0" lang="pt-BR" sz="13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3 · ESTRUTURA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50"/>
          <p:cNvSpPr/>
          <p:nvPr/>
        </p:nvSpPr>
        <p:spPr>
          <a:xfrm>
            <a:off x="6329934" y="1872234"/>
            <a:ext cx="22425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800"/>
              <a:buFont typeface="Arial"/>
              <a:buNone/>
            </a:pPr>
            <a:r>
              <a:rPr b="0" i="0" lang="pt-BR" sz="1000" u="none" cap="none" strike="noStrike">
                <a:solidFill>
                  <a:srgbClr val="1D2B2C"/>
                </a:solidFill>
                <a:latin typeface="Arial"/>
                <a:ea typeface="Arial"/>
                <a:cs typeface="Arial"/>
                <a:sym typeface="Arial"/>
              </a:rPr>
              <a:t>O padrão é compatível com a heterogeneidade de grau discutida na modelagem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0"/>
          <p:cNvSpPr/>
          <p:nvPr/>
        </p:nvSpPr>
        <p:spPr>
          <a:xfrm>
            <a:off x="377190" y="3120390"/>
            <a:ext cx="8387400" cy="994500"/>
          </a:xfrm>
          <a:prstGeom prst="roundRect">
            <a:avLst>
              <a:gd fmla="val 4138" name="adj"/>
            </a:avLst>
          </a:prstGeom>
          <a:solidFill>
            <a:srgbClr val="F6F8F8"/>
          </a:solidFill>
          <a:ln cap="flat" cmpd="sng" w="952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0"/>
          <p:cNvSpPr/>
          <p:nvPr/>
        </p:nvSpPr>
        <p:spPr>
          <a:xfrm>
            <a:off x="576072" y="3319272"/>
            <a:ext cx="205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800"/>
              <a:buFont typeface="Arial"/>
              <a:buNone/>
            </a:pPr>
            <a:r>
              <a:rPr b="1" i="0" lang="pt-BR" sz="1300" u="none" cap="none" strike="noStrike">
                <a:solidFill>
                  <a:srgbClr val="911EB4"/>
                </a:solidFill>
                <a:latin typeface="Arial"/>
                <a:ea typeface="Arial"/>
                <a:cs typeface="Arial"/>
                <a:sym typeface="Arial"/>
              </a:rPr>
              <a:t>LIMITAÇÕES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0"/>
          <p:cNvSpPr/>
          <p:nvPr/>
        </p:nvSpPr>
        <p:spPr>
          <a:xfrm>
            <a:off x="576072" y="3545586"/>
            <a:ext cx="781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C"/>
              </a:buClr>
              <a:buSzPts val="900"/>
              <a:buFont typeface="Arial"/>
              <a:buNone/>
            </a:pPr>
            <a:r>
              <a:rPr b="0" i="0" lang="pt-BR" sz="1100" u="none" cap="none" strike="noStrike">
                <a:solidFill>
                  <a:srgbClr val="1D2B2C"/>
                </a:solidFill>
                <a:latin typeface="Arial"/>
                <a:ea typeface="Arial"/>
                <a:cs typeface="Arial"/>
                <a:sym typeface="Arial"/>
              </a:rPr>
              <a:t>Falhas em cascata foram tratadas conceitualmente; </a:t>
            </a:r>
            <a:r>
              <a:rPr lang="pt-BR" sz="1100">
                <a:solidFill>
                  <a:srgbClr val="1D2B2C"/>
                </a:solidFill>
              </a:rPr>
              <a:t>remoções estáticas não capturam dinâmica temporal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0"/>
          <p:cNvSpPr/>
          <p:nvPr/>
        </p:nvSpPr>
        <p:spPr>
          <a:xfrm>
            <a:off x="377200" y="4369575"/>
            <a:ext cx="8387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464B"/>
              </a:buClr>
              <a:buSzPts val="1300"/>
              <a:buFont typeface="Georgia"/>
              <a:buNone/>
            </a:pPr>
            <a:r>
              <a:rPr b="1" i="0" lang="pt-BR" sz="1500" u="none" cap="none" strike="noStrike">
                <a:solidFill>
                  <a:srgbClr val="12464B"/>
                </a:solidFill>
                <a:latin typeface="Georgia"/>
                <a:ea typeface="Georgia"/>
                <a:cs typeface="Georgia"/>
                <a:sym typeface="Georgia"/>
              </a:rPr>
              <a:t>A rede tolera perdas dispersas, mas depende fortemente de seus hubs de maior grau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0"/>
          <p:cNvSpPr txBox="1"/>
          <p:nvPr>
            <p:ph idx="4294967295" type="sldNum"/>
          </p:nvPr>
        </p:nvSpPr>
        <p:spPr>
          <a:xfrm>
            <a:off x="8627364" y="495833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33</a:t>
            </a:r>
            <a:endParaRPr b="0" i="0" sz="600" u="none" cap="none" strike="noStrike">
              <a:solidFill>
                <a:srgbClr val="6071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0"/>
          <p:cNvSpPr txBox="1"/>
          <p:nvPr/>
        </p:nvSpPr>
        <p:spPr>
          <a:xfrm>
            <a:off x="411480" y="288036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900"/>
              <a:buFont typeface="Calibri"/>
              <a:buNone/>
            </a:pPr>
            <a:r>
              <a:rPr b="1" lang="pt-BR" sz="900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ROBUSTEZ E RESILIÊNCIA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464B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8" name="Google Shape;698;p51"/>
          <p:cNvCxnSpPr/>
          <p:nvPr/>
        </p:nvCxnSpPr>
        <p:spPr>
          <a:xfrm>
            <a:off x="1303020" y="1165860"/>
            <a:ext cx="925830" cy="51435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51"/>
          <p:cNvCxnSpPr/>
          <p:nvPr/>
        </p:nvCxnSpPr>
        <p:spPr>
          <a:xfrm flipH="1" rot="10800000">
            <a:off x="2228850" y="1337310"/>
            <a:ext cx="925830" cy="3429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51"/>
          <p:cNvCxnSpPr/>
          <p:nvPr/>
        </p:nvCxnSpPr>
        <p:spPr>
          <a:xfrm flipH="1">
            <a:off x="1148715" y="1165860"/>
            <a:ext cx="154305" cy="13716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51"/>
          <p:cNvCxnSpPr/>
          <p:nvPr/>
        </p:nvCxnSpPr>
        <p:spPr>
          <a:xfrm>
            <a:off x="1148715" y="2537460"/>
            <a:ext cx="1234440" cy="17145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51"/>
          <p:cNvCxnSpPr/>
          <p:nvPr/>
        </p:nvCxnSpPr>
        <p:spPr>
          <a:xfrm>
            <a:off x="2228850" y="1680210"/>
            <a:ext cx="154305" cy="10287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51"/>
          <p:cNvCxnSpPr/>
          <p:nvPr/>
        </p:nvCxnSpPr>
        <p:spPr>
          <a:xfrm>
            <a:off x="2383155" y="2708910"/>
            <a:ext cx="925830" cy="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4" name="Google Shape;704;p51"/>
          <p:cNvCxnSpPr/>
          <p:nvPr/>
        </p:nvCxnSpPr>
        <p:spPr>
          <a:xfrm flipH="1">
            <a:off x="1765935" y="2708910"/>
            <a:ext cx="617220" cy="10287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5" name="Google Shape;705;p51"/>
          <p:cNvCxnSpPr/>
          <p:nvPr/>
        </p:nvCxnSpPr>
        <p:spPr>
          <a:xfrm>
            <a:off x="1765935" y="3737610"/>
            <a:ext cx="1234440" cy="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51"/>
          <p:cNvCxnSpPr/>
          <p:nvPr/>
        </p:nvCxnSpPr>
        <p:spPr>
          <a:xfrm flipH="1">
            <a:off x="2383155" y="1337310"/>
            <a:ext cx="771525" cy="1371600"/>
          </a:xfrm>
          <a:prstGeom prst="straightConnector1">
            <a:avLst/>
          </a:prstGeom>
          <a:noFill/>
          <a:ln cap="flat" cmpd="sng" w="1587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51"/>
          <p:cNvSpPr/>
          <p:nvPr/>
        </p:nvSpPr>
        <p:spPr>
          <a:xfrm>
            <a:off x="1248156" y="1110996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1"/>
          <p:cNvSpPr/>
          <p:nvPr/>
        </p:nvSpPr>
        <p:spPr>
          <a:xfrm>
            <a:off x="2194560" y="1645920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1"/>
          <p:cNvSpPr/>
          <p:nvPr/>
        </p:nvSpPr>
        <p:spPr>
          <a:xfrm>
            <a:off x="3120390" y="1303020"/>
            <a:ext cx="68580" cy="6858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1"/>
          <p:cNvSpPr/>
          <p:nvPr/>
        </p:nvSpPr>
        <p:spPr>
          <a:xfrm>
            <a:off x="1093851" y="2482596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1"/>
          <p:cNvSpPr/>
          <p:nvPr/>
        </p:nvSpPr>
        <p:spPr>
          <a:xfrm>
            <a:off x="2348865" y="2674620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1"/>
          <p:cNvSpPr/>
          <p:nvPr/>
        </p:nvSpPr>
        <p:spPr>
          <a:xfrm>
            <a:off x="3274695" y="2674620"/>
            <a:ext cx="68580" cy="68580"/>
          </a:xfrm>
          <a:prstGeom prst="ellipse">
            <a:avLst/>
          </a:prstGeom>
          <a:solidFill>
            <a:srgbClr val="9CA9A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1"/>
          <p:cNvSpPr/>
          <p:nvPr/>
        </p:nvSpPr>
        <p:spPr>
          <a:xfrm>
            <a:off x="1711071" y="3682746"/>
            <a:ext cx="109728" cy="109728"/>
          </a:xfrm>
          <a:prstGeom prst="ellipse">
            <a:avLst/>
          </a:prstGeom>
          <a:solidFill>
            <a:srgbClr val="911EB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1"/>
          <p:cNvSpPr/>
          <p:nvPr/>
        </p:nvSpPr>
        <p:spPr>
          <a:xfrm>
            <a:off x="2966085" y="3703320"/>
            <a:ext cx="68580" cy="68580"/>
          </a:xfrm>
          <a:prstGeom prst="ellipse">
            <a:avLst/>
          </a:prstGeom>
          <a:solidFill>
            <a:srgbClr val="1B5C6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1"/>
          <p:cNvSpPr txBox="1"/>
          <p:nvPr/>
        </p:nvSpPr>
        <p:spPr>
          <a:xfrm>
            <a:off x="4114800" y="1988820"/>
            <a:ext cx="45948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pt-BR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Obrigado(a)!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1"/>
          <p:cNvSpPr txBox="1"/>
          <p:nvPr/>
        </p:nvSpPr>
        <p:spPr>
          <a:xfrm>
            <a:off x="4114800" y="2571750"/>
            <a:ext cx="45948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1EB4"/>
              </a:buClr>
              <a:buSzPts val="1200"/>
              <a:buFont typeface="Calibri"/>
              <a:buNone/>
            </a:pPr>
            <a:r>
              <a:rPr b="0" i="1" lang="pt-BR" sz="1200" u="none" cap="none" strike="noStrike">
                <a:solidFill>
                  <a:srgbClr val="911EB4"/>
                </a:solidFill>
                <a:latin typeface="Calibri"/>
                <a:ea typeface="Calibri"/>
                <a:cs typeface="Calibri"/>
                <a:sym typeface="Calibri"/>
              </a:rPr>
              <a:t>Perguntas e discussão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1"/>
          <p:cNvSpPr txBox="1"/>
          <p:nvPr/>
        </p:nvSpPr>
        <p:spPr>
          <a:xfrm>
            <a:off x="4114800" y="3154680"/>
            <a:ext cx="4526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0BF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9FC0BF"/>
                </a:solidFill>
                <a:latin typeface="Calibri"/>
                <a:ea typeface="Calibri"/>
                <a:cs typeface="Calibri"/>
                <a:sym typeface="Calibri"/>
              </a:rPr>
              <a:t>Análise da Rede de Colaboração Científica dos Institutos da UNIFEI  ·  XMCO09 – Ciência de Redes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1"/>
          <p:cNvSpPr txBox="1"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D5"/>
              </a:buClr>
              <a:buSzPts val="700"/>
              <a:buFont typeface="Calibri"/>
              <a:buNone/>
            </a:pPr>
            <a:r>
              <a:rPr b="0" i="0" lang="pt-BR" sz="700" u="none" cap="none" strike="noStrike">
                <a:solidFill>
                  <a:srgbClr val="BFD6D5"/>
                </a:solidFill>
                <a:latin typeface="Calibri"/>
                <a:ea typeface="Calibri"/>
                <a:cs typeface="Calibri"/>
                <a:sym typeface="Calibri"/>
              </a:rPr>
              <a:t>UNIFEI-IMC · XMCO09 – Ciência de Redes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